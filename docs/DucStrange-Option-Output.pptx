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61" r:id="rId3"/>
    <p:sldId id="273" r:id="rId5"/>
    <p:sldId id="265" r:id="rId6"/>
    <p:sldId id="257" r:id="rId7"/>
    <p:sldId id="258" r:id="rId8"/>
    <p:sldId id="259" r:id="rId9"/>
    <p:sldId id="260" r:id="rId10"/>
    <p:sldId id="262" r:id="rId11"/>
    <p:sldId id="264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ocStrange" id="{2BA6BE37-5014-443A-8819-F5DA7B6F2100}">
          <p14:sldIdLst>
            <p14:sldId id="260"/>
            <p14:sldId id="262"/>
            <p14:sldId id="258"/>
            <p14:sldId id="259"/>
            <p14:sldId id="265"/>
            <p14:sldId id="261"/>
            <p14:sldId id="273"/>
            <p14:sldId id="257"/>
          </p14:sldIdLst>
        </p14:section>
        <p14:section name="docstrange_local" id="{49F6AACB-1F76-465E-B0B5-B9F3926CBDC2}">
          <p14:sldIdLst>
            <p14:sldId id="264"/>
          </p14:sldIdLst>
        </p14:section>
        <p14:section name="PdfPlumber" id="{97ACF4E4-4035-4B3A-BDA3-130926B1BCB7}">
          <p14:sldIdLst>
            <p14:sldId id="26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35"/>
    <p:restoredTop sz="92136" autoAdjust="0"/>
  </p:normalViewPr>
  <p:slideViewPr>
    <p:cSldViewPr snapToGrid="0">
      <p:cViewPr varScale="1">
        <p:scale>
          <a:sx n="84" d="100"/>
          <a:sy n="84" d="100"/>
        </p:scale>
        <p:origin x="8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45AE7A-CA33-DB47-A094-C920B571FBEB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A33648-3A71-9246-A459-6F22AB07DEE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Local CPU mode - </a:t>
            </a:r>
            <a:r>
              <a:rPr lang="en-US" dirty="0"/>
              <a:t>Common underlying models (from the </a:t>
            </a:r>
            <a:r>
              <a:rPr lang="en-US" dirty="0" err="1"/>
              <a:t>DocStrange</a:t>
            </a:r>
            <a:r>
              <a:rPr lang="en-US" dirty="0"/>
              <a:t> stack):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Layout detection → </a:t>
            </a:r>
            <a:r>
              <a:rPr lang="en-US" b="1" dirty="0" err="1"/>
              <a:t>DocLayout</a:t>
            </a:r>
            <a:r>
              <a:rPr lang="en-US" b="1" dirty="0"/>
              <a:t> / </a:t>
            </a:r>
            <a:r>
              <a:rPr lang="en-US" b="1" dirty="0" err="1"/>
              <a:t>LayoutLM</a:t>
            </a:r>
            <a:r>
              <a:rPr lang="en-US" b="1" dirty="0"/>
              <a:t>-based models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OCR → </a:t>
            </a:r>
            <a:r>
              <a:rPr lang="en-US" b="1" dirty="0" err="1"/>
              <a:t>PaddleOCR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Table structure → </a:t>
            </a:r>
            <a:r>
              <a:rPr lang="en-US" b="1" dirty="0" err="1"/>
              <a:t>TableTransformer</a:t>
            </a:r>
            <a:r>
              <a:rPr lang="en-US" b="1" dirty="0"/>
              <a:t> / </a:t>
            </a:r>
            <a:r>
              <a:rPr lang="en-US" b="1" dirty="0" err="1"/>
              <a:t>PPStructure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A33648-3A71-9246-A459-6F22AB07DEE3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A33648-3A71-9246-A459-6F22AB07DEE3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uname</a:t>
            </a:r>
            <a:r>
              <a:rPr lang="en-US" dirty="0"/>
              <a:t> –a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DocStrange</a:t>
            </a:r>
            <a:r>
              <a:rPr lang="en-US" dirty="0"/>
              <a:t> GPU requires </a:t>
            </a:r>
            <a:r>
              <a:rPr lang="en-US" b="1" dirty="0"/>
              <a:t>CUDA</a:t>
            </a:r>
            <a:r>
              <a:rPr lang="en-US" dirty="0"/>
              <a:t>, which only works with </a:t>
            </a:r>
            <a:r>
              <a:rPr lang="en-US" b="1" dirty="0"/>
              <a:t>NVIDIA GPUs on Linux/Windows</a:t>
            </a:r>
            <a:r>
              <a:rPr lang="en-US" dirty="0"/>
              <a:t>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Pdfplumber</a:t>
            </a:r>
            <a:r>
              <a:rPr lang="en-US" dirty="0"/>
              <a:t> or </a:t>
            </a:r>
            <a:r>
              <a:rPr lang="en-US" b="1" dirty="0"/>
              <a:t>unstructured</a:t>
            </a:r>
            <a:r>
              <a:rPr lang="en-US" dirty="0"/>
              <a:t> =&gt; best case</a:t>
            </a:r>
            <a:endParaRPr lang="en-US" dirty="0"/>
          </a:p>
          <a:p>
            <a:endParaRPr lang="en-US" b="1" dirty="0"/>
          </a:p>
          <a:p>
            <a:r>
              <a:rPr lang="en-US" b="1" dirty="0"/>
              <a:t>PDF → </a:t>
            </a:r>
            <a:r>
              <a:rPr lang="en-US" b="1" dirty="0" err="1"/>
              <a:t>pdfplumber</a:t>
            </a:r>
            <a:br>
              <a:rPr lang="en-US" b="1" dirty="0"/>
            </a:br>
            <a:r>
              <a:rPr lang="en-US" b="1" dirty="0"/>
              <a:t>DOCX → python-docx</a:t>
            </a:r>
            <a:br>
              <a:rPr lang="en-US" b="1" dirty="0"/>
            </a:br>
            <a:r>
              <a:rPr lang="en-US" b="1" dirty="0"/>
              <a:t>Images → tesseract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A33648-3A71-9246-A459-6F22AB07DEE3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A33648-3A71-9246-A459-6F22AB07DEE3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14D681-7D00-494D-8178-8A5F621D8CBA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736747-5B7A-A94A-BBB8-41A0822C9E32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5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16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307" y="127454"/>
            <a:ext cx="4006931" cy="5019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 err="1"/>
              <a:t>docstrange</a:t>
            </a:r>
            <a:r>
              <a:rPr lang="en-US" sz="2000" dirty="0"/>
              <a:t>==1.1.8</a:t>
            </a: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5846049" y="511822"/>
            <a:ext cx="653142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Processing happens in </a:t>
            </a:r>
            <a:r>
              <a:rPr lang="en-US" b="1" dirty="0" err="1"/>
              <a:t>DocStrange</a:t>
            </a:r>
            <a:r>
              <a:rPr lang="en-US" b="1" dirty="0"/>
              <a:t> cloud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Requires internet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Usually </a:t>
            </a:r>
            <a:r>
              <a:rPr lang="en-US" b="1" dirty="0"/>
              <a:t>fast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Just support GPU</a:t>
            </a:r>
            <a:endParaRPr lang="en-US" dirty="0"/>
          </a:p>
        </p:txBody>
      </p:sp>
      <p:sp>
        <p:nvSpPr>
          <p:cNvPr id="9" name="Content Placeholder 2"/>
          <p:cNvSpPr txBox="1"/>
          <p:nvPr/>
        </p:nvSpPr>
        <p:spPr>
          <a:xfrm>
            <a:off x="161307" y="1840530"/>
            <a:ext cx="4639293" cy="6531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2000" dirty="0" err="1"/>
              <a:t>docstrange</a:t>
            </a:r>
            <a:r>
              <a:rPr lang="en-US" sz="2000" dirty="0"/>
              <a:t>==1.1.3 &amp; </a:t>
            </a:r>
            <a:r>
              <a:rPr lang="en-US" sz="2000" dirty="0" err="1"/>
              <a:t>cpu</a:t>
            </a:r>
            <a:r>
              <a:rPr lang="en-US" sz="2000" dirty="0"/>
              <a:t> mode</a:t>
            </a: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11" name="TextBox 10"/>
          <p:cNvSpPr txBox="1"/>
          <p:nvPr/>
        </p:nvSpPr>
        <p:spPr>
          <a:xfrm>
            <a:off x="5846049" y="2419315"/>
            <a:ext cx="51301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Fully </a:t>
            </a:r>
            <a:r>
              <a:rPr lang="en-US" b="1" dirty="0"/>
              <a:t>offline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Runs </a:t>
            </a:r>
            <a:r>
              <a:rPr lang="en-US" b="1" dirty="0"/>
              <a:t>ML models locally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Works on Mac / Linux / Windows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Slower</a:t>
            </a:r>
            <a:r>
              <a:rPr lang="en-US" dirty="0"/>
              <a:t> for large documents</a:t>
            </a:r>
            <a:endParaRPr lang="en-US" dirty="0"/>
          </a:p>
        </p:txBody>
      </p:sp>
      <p:sp>
        <p:nvSpPr>
          <p:cNvPr id="12" name="Content Placeholder 2"/>
          <p:cNvSpPr txBox="1"/>
          <p:nvPr/>
        </p:nvSpPr>
        <p:spPr>
          <a:xfrm>
            <a:off x="80653" y="3429000"/>
            <a:ext cx="4800600" cy="8124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2000" dirty="0" err="1"/>
              <a:t>docstrange</a:t>
            </a:r>
            <a:r>
              <a:rPr lang="en-US" sz="2000" dirty="0"/>
              <a:t>==1.1.3 &amp; </a:t>
            </a:r>
            <a:r>
              <a:rPr lang="en-US" sz="2000" dirty="0" err="1"/>
              <a:t>gpu</a:t>
            </a:r>
            <a:r>
              <a:rPr lang="en-US" sz="2000" dirty="0"/>
              <a:t> mode</a:t>
            </a: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666" y="627599"/>
            <a:ext cx="4333835" cy="1000116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66" y="2419315"/>
            <a:ext cx="4333835" cy="92580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07" y="4034142"/>
            <a:ext cx="4333835" cy="9034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26702" y="4123967"/>
            <a:ext cx="3318163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Requirements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NVIDIA GPU (or MPS)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5929176" y="5007350"/>
            <a:ext cx="3318163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Advantages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5–20× faster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Best for large PDFs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8531" y="5126600"/>
            <a:ext cx="555498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54330"/>
            <a:ext cx="10515600" cy="1325563"/>
          </a:xfrm>
        </p:spPr>
        <p:txBody>
          <a:bodyPr/>
          <a:p>
            <a:pPr algn="ctr"/>
            <a:r>
              <a:rPr lang="en-US"/>
              <a:t>Trade-offs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4998720" cy="553085"/>
          </a:xfrm>
        </p:spPr>
        <p:txBody>
          <a:bodyPr>
            <a:normAutofit fontScale="70000"/>
          </a:bodyPr>
          <a:p>
            <a:pPr marL="0" indent="0" algn="ctr">
              <a:buNone/>
            </a:pPr>
            <a:r>
              <a:rPr lang="en-US" sz="4000" b="1">
                <a:solidFill>
                  <a:schemeClr val="accent1"/>
                </a:solidFill>
              </a:rPr>
              <a:t>PDF</a:t>
            </a:r>
            <a:endParaRPr lang="en-US" sz="4000" b="1">
              <a:solidFill>
                <a:schemeClr val="accent1"/>
              </a:solidFill>
            </a:endParaRPr>
          </a:p>
        </p:txBody>
      </p:sp>
      <p:cxnSp>
        <p:nvCxnSpPr>
          <p:cNvPr id="4" name="Straight Connector 3"/>
          <p:cNvCxnSpPr/>
          <p:nvPr/>
        </p:nvCxnSpPr>
        <p:spPr>
          <a:xfrm>
            <a:off x="5836920" y="1825625"/>
            <a:ext cx="0" cy="43516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641350" y="3174365"/>
            <a:ext cx="480441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dirty="0">
                <a:sym typeface="+mn-ea"/>
              </a:rPr>
              <a:t>Uses OCR because files may contain scanned images instead of text.</a:t>
            </a:r>
            <a:endParaRPr lang="en-US"/>
          </a:p>
        </p:txBody>
      </p:sp>
      <p:sp>
        <p:nvSpPr>
          <p:cNvPr id="7" name="Content Placeholder 2"/>
          <p:cNvSpPr>
            <a:spLocks noGrp="1"/>
          </p:cNvSpPr>
          <p:nvPr/>
        </p:nvSpPr>
        <p:spPr>
          <a:xfrm>
            <a:off x="6399530" y="1825625"/>
            <a:ext cx="4998720" cy="55308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>
                <a:solidFill>
                  <a:schemeClr val="accent1"/>
                </a:solidFill>
              </a:rPr>
              <a:t>DOCX</a:t>
            </a:r>
            <a:endParaRPr lang="en-US" sz="4000" b="1">
              <a:solidFill>
                <a:schemeClr val="accent1"/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228080" y="3150870"/>
            <a:ext cx="521462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dirty="0">
                <a:sym typeface="+mn-ea"/>
              </a:rPr>
              <a:t>No OCR needed, content and tables are stored in structured XML, enabling more accurate table extraction than PDF.</a:t>
            </a:r>
            <a:endParaRPr lang="en-US"/>
          </a:p>
        </p:txBody>
      </p:sp>
      <p:sp>
        <p:nvSpPr>
          <p:cNvPr id="11" name="Text Box 10"/>
          <p:cNvSpPr txBox="1"/>
          <p:nvPr/>
        </p:nvSpPr>
        <p:spPr>
          <a:xfrm>
            <a:off x="6250940" y="4199255"/>
            <a:ext cx="50927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ym typeface="+mn-ea"/>
              </a:rPr>
              <a:t>Because of its struture, we process DOCX in CPU or GPU, it will use less memory and take less time than PDF.</a:t>
            </a:r>
            <a:endParaRPr lang="en-US"/>
          </a:p>
        </p:txBody>
      </p:sp>
      <p:sp>
        <p:nvSpPr>
          <p:cNvPr id="12" name="Text Box 11"/>
          <p:cNvSpPr txBox="1"/>
          <p:nvPr/>
        </p:nvSpPr>
        <p:spPr>
          <a:xfrm>
            <a:off x="635000" y="4199255"/>
            <a:ext cx="470027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dirty="0">
                <a:sym typeface="+mn-ea"/>
              </a:rPr>
              <a:t>This step is heavy: using GPU is faster but uses more memory, while using CPU uses less memory but takes more time.</a:t>
            </a:r>
            <a:endParaRPr lang="en-US"/>
          </a:p>
        </p:txBody>
      </p:sp>
      <p:sp>
        <p:nvSpPr>
          <p:cNvPr id="13" name="Text Box 12"/>
          <p:cNvSpPr txBox="1"/>
          <p:nvPr/>
        </p:nvSpPr>
        <p:spPr>
          <a:xfrm>
            <a:off x="650240" y="2252345"/>
            <a:ext cx="46240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/>
              <a:t>Input PDF ⟶ Image Rendering ⟶ OCR ⟶ Convert </a:t>
            </a:r>
            <a:r>
              <a:rPr lang="en-US">
                <a:sym typeface="+mn-ea"/>
              </a:rPr>
              <a:t>⟶ Output</a:t>
            </a:r>
            <a:endParaRPr lang="en-US"/>
          </a:p>
        </p:txBody>
      </p:sp>
      <p:sp>
        <p:nvSpPr>
          <p:cNvPr id="14" name="Text Box 13"/>
          <p:cNvSpPr txBox="1"/>
          <p:nvPr/>
        </p:nvSpPr>
        <p:spPr>
          <a:xfrm>
            <a:off x="6283325" y="2252345"/>
            <a:ext cx="52031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/>
              <a:t>Input DOCX ⟶ File Unzipping ⟶ XML Parsing ⟶ Structural Mapping⟶ Convert </a:t>
            </a:r>
            <a:r>
              <a:rPr lang="en-US">
                <a:sym typeface="+mn-ea"/>
              </a:rPr>
              <a:t>⟶ Output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0805"/>
            <a:ext cx="10515600" cy="998855"/>
          </a:xfrm>
        </p:spPr>
        <p:txBody>
          <a:bodyPr/>
          <a:lstStyle/>
          <a:p>
            <a:pPr algn="ctr"/>
            <a:r>
              <a:rPr lang="en-US" dirty="0" err="1"/>
              <a:t>DocumentExtractor</a:t>
            </a:r>
            <a:r>
              <a:rPr lang="en-US" dirty="0"/>
              <a:t> - Constructor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828800" y="1231445"/>
            <a:ext cx="5562600" cy="82879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2340134"/>
          <a:ext cx="8755380" cy="3661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81856"/>
                <a:gridCol w="1311436"/>
                <a:gridCol w="1122485"/>
                <a:gridCol w="4639603"/>
              </a:tblGrid>
              <a:tr h="569796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Parameter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Type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Default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Meaning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</a:tr>
              <a:tr h="569796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 dirty="0" err="1">
                          <a:effectLst/>
                        </a:rPr>
                        <a:t>api_key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str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None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Nanonets API key for cloud tier. Omit to use cached login or free tier.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</a:tr>
              <a:tr h="569796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model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str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None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Cloud model: "nanonets" (default), "gemini", or "openapi".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</a:tr>
              <a:tr h="569796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 dirty="0" err="1">
                          <a:effectLst/>
                        </a:rPr>
                        <a:t>ocr_enabled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bool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True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Use to activate OCR (but PDF mandatory uses OCR).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</a:tr>
              <a:tr h="7849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cpu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bool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False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Force local CPU mode. Requires docstrange[local-llm] + Ollama running.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</a:tr>
              <a:tr h="569796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gpu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bool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>
                          <a:effectLst/>
                        </a:rPr>
                        <a:t>False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600" dirty="0">
                          <a:effectLst/>
                        </a:rPr>
                        <a:t>Force local GPU (CUDA) mode. Fastest local option. Requires CUDA + Ollama.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307573" y="594701"/>
            <a:ext cx="66043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US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DocumentExtractor</a:t>
            </a:r>
            <a:r>
              <a:rPr lang="en-US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b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class from the </a:t>
            </a:r>
            <a:r>
              <a:rPr lang="en-US" b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docstrange</a:t>
            </a:r>
            <a:r>
              <a:rPr lang="en-US" b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library, use to read document, extract content</a:t>
            </a:r>
            <a:endParaRPr lang="en-US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07573" y="1598662"/>
            <a:ext cx="6604339" cy="1337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1" dirty="0" err="1">
                <a:sym typeface="+mn-ea"/>
              </a:rPr>
              <a:t>extractor.extract</a:t>
            </a:r>
            <a:r>
              <a:rPr lang="en-US" b="1" dirty="0">
                <a:sym typeface="+mn-ea"/>
              </a:rPr>
              <a:t>(str(INPUT_FILE)):</a:t>
            </a:r>
            <a:r>
              <a:rPr lang="en-US" b="1" dirty="0"/>
              <a:t> </a:t>
            </a:r>
            <a:r>
              <a:rPr lang="en-US" dirty="0"/>
              <a:t>call method and return </a:t>
            </a:r>
            <a:r>
              <a:rPr lang="en-US" b="1" dirty="0" err="1"/>
              <a:t>ConversionResult</a:t>
            </a:r>
            <a:r>
              <a:rPr lang="en-US" b="1" dirty="0"/>
              <a:t> </a:t>
            </a:r>
            <a:r>
              <a:rPr lang="en-US" dirty="0"/>
              <a:t>object containing parsed data (text, tables, metadata, etc.).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80206" y="-151110"/>
            <a:ext cx="6747314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>
              <a:lnSpc>
                <a:spcPct val="150000"/>
              </a:lnSpc>
            </a:pPr>
            <a:r>
              <a:rPr lang="en-US" sz="3200" b="1" dirty="0" err="1">
                <a:solidFill>
                  <a:schemeClr val="accent4"/>
                </a:solidFill>
              </a:rPr>
              <a:t>e</a:t>
            </a:r>
            <a:r>
              <a:rPr lang="en-US" sz="3200" b="1" cap="none" spc="0" dirty="0" err="1">
                <a:solidFill>
                  <a:schemeClr val="accent4"/>
                </a:solidFill>
                <a:effectLst/>
              </a:rPr>
              <a:t>xtract_text</a:t>
            </a:r>
            <a:r>
              <a:rPr lang="en-US" sz="3200" b="1" cap="none" spc="0" dirty="0">
                <a:solidFill>
                  <a:schemeClr val="accent4"/>
                </a:solidFill>
                <a:effectLst/>
              </a:rPr>
              <a:t>()</a:t>
            </a:r>
            <a:endParaRPr lang="en-US" sz="3200" b="1" cap="none" spc="0" dirty="0">
              <a:solidFill>
                <a:schemeClr val="accent4"/>
              </a:solidFill>
              <a:effectLst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7572" y="3110776"/>
            <a:ext cx="66043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US" b="1" dirty="0" err="1"/>
              <a:t>result.extract_text</a:t>
            </a:r>
            <a:r>
              <a:rPr lang="en-US" b="1" dirty="0"/>
              <a:t>(): </a:t>
            </a:r>
            <a:r>
              <a:rPr lang="en-US" dirty="0"/>
              <a:t>all textual content found in the document.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rcRect l="1816"/>
          <a:stretch>
            <a:fillRect/>
          </a:stretch>
        </p:blipFill>
        <p:spPr>
          <a:xfrm>
            <a:off x="5116830" y="3644265"/>
            <a:ext cx="6579235" cy="3057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" y="594995"/>
            <a:ext cx="3622675" cy="5905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10" y="1297940"/>
            <a:ext cx="4495800" cy="4191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45" y="1790700"/>
            <a:ext cx="4511040" cy="7086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010" y="3947795"/>
            <a:ext cx="4389755" cy="28149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810" y="2701925"/>
            <a:ext cx="4794250" cy="10433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0206" y="-13640"/>
            <a:ext cx="459781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>
              <a:lnSpc>
                <a:spcPct val="150000"/>
              </a:lnSpc>
            </a:pPr>
            <a:r>
              <a:rPr lang="en-US" sz="3200" b="1" dirty="0" err="1">
                <a:solidFill>
                  <a:schemeClr val="accent4"/>
                </a:solidFill>
              </a:rPr>
              <a:t>extract_markdown</a:t>
            </a:r>
            <a:r>
              <a:rPr lang="en-US" sz="3200" b="1" dirty="0">
                <a:solidFill>
                  <a:schemeClr val="accent4"/>
                </a:solidFill>
              </a:rPr>
              <a:t>()</a:t>
            </a:r>
            <a:endParaRPr lang="en-US" sz="3200" b="1" dirty="0">
              <a:solidFill>
                <a:schemeClr val="accent4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7573" y="594701"/>
            <a:ext cx="66043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US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DocumentExtractor</a:t>
            </a:r>
            <a:r>
              <a:rPr lang="en-US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b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class from the </a:t>
            </a:r>
            <a:r>
              <a:rPr lang="en-US" b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docstrange</a:t>
            </a:r>
            <a:r>
              <a:rPr lang="en-US" b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library, use to read document, extract content</a:t>
            </a:r>
            <a:endParaRPr lang="en-US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7573" y="1598662"/>
            <a:ext cx="6884427" cy="1337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1" dirty="0" err="1"/>
              <a:t>extractor.extract</a:t>
            </a:r>
            <a:r>
              <a:rPr lang="en-US" b="1" dirty="0"/>
              <a:t>(str(INPUT_FILE)): </a:t>
            </a:r>
            <a:r>
              <a:rPr lang="en-US" dirty="0"/>
              <a:t>call method and return </a:t>
            </a:r>
            <a:r>
              <a:rPr lang="en-US" b="1" dirty="0"/>
              <a:t>extraction result object </a:t>
            </a:r>
            <a:r>
              <a:rPr lang="en-US" dirty="0"/>
              <a:t>containing parsed data (text, tables, metadata, etc.).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5306302" y="2841851"/>
            <a:ext cx="688442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US" b="1" dirty="0" err="1"/>
              <a:t>extract_markdown</a:t>
            </a:r>
            <a:r>
              <a:rPr lang="en-US" b="1" dirty="0"/>
              <a:t>(): </a:t>
            </a:r>
            <a:r>
              <a:rPr lang="en-US" dirty="0"/>
              <a:t>returns the document as Markdown, preserving structure like headings, lists, and tables.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" y="807720"/>
            <a:ext cx="3622675" cy="5905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10" y="1510665"/>
            <a:ext cx="4495800" cy="4191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45" y="2003425"/>
            <a:ext cx="4511040" cy="7086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rcRect r="4060"/>
          <a:stretch>
            <a:fillRect/>
          </a:stretch>
        </p:blipFill>
        <p:spPr>
          <a:xfrm>
            <a:off x="130810" y="2785745"/>
            <a:ext cx="5175250" cy="104711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1450" y="3832860"/>
            <a:ext cx="6717030" cy="29108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495" y="3947795"/>
            <a:ext cx="4389755" cy="28149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0206" y="-13640"/>
            <a:ext cx="382194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3200" b="1" dirty="0" err="1">
                <a:solidFill>
                  <a:schemeClr val="accent4"/>
                </a:solidFill>
              </a:rPr>
              <a:t>extract_data</a:t>
            </a:r>
            <a:r>
              <a:rPr lang="en-US" sz="3200" b="1" dirty="0">
                <a:solidFill>
                  <a:schemeClr val="accent4"/>
                </a:solidFill>
              </a:rPr>
              <a:t>()</a:t>
            </a:r>
            <a:endParaRPr lang="en-US" sz="3200" b="1" dirty="0">
              <a:solidFill>
                <a:schemeClr val="accent4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26254" y="631907"/>
            <a:ext cx="6604339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ts val="1350"/>
              </a:lnSpc>
              <a:buNone/>
            </a:pPr>
            <a:r>
              <a:rPr lang="en-US" b="1" dirty="0" err="1"/>
              <a:t>extract_data</a:t>
            </a:r>
            <a:r>
              <a:rPr lang="en-US" b="1" dirty="0"/>
              <a:t>(): </a:t>
            </a:r>
            <a:r>
              <a:rPr lang="en-US" dirty="0"/>
              <a:t>returns the </a:t>
            </a:r>
            <a:r>
              <a:rPr lang="en-US" dirty="0" err="1"/>
              <a:t>json</a:t>
            </a:r>
            <a:r>
              <a:rPr lang="en-US" dirty="0"/>
              <a:t> data</a:t>
            </a:r>
            <a:endParaRPr lang="en-US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25808" y="1536900"/>
          <a:ext cx="6604338" cy="1142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4451"/>
                <a:gridCol w="1435396"/>
                <a:gridCol w="3194491"/>
              </a:tblGrid>
              <a:tr h="377341"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  <a:endParaRPr lang="en-US" dirty="0"/>
                    </a:p>
                  </a:txBody>
                  <a:tcPr/>
                </a:tc>
              </a:tr>
              <a:tr h="382582">
                <a:tc>
                  <a:txBody>
                    <a:bodyPr/>
                    <a:lstStyle/>
                    <a:p>
                      <a:r>
                        <a:rPr lang="en-US" dirty="0" err="1"/>
                        <a:t>specified_fields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List[str]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Extract only specific fields</a:t>
                      </a:r>
                      <a:endParaRPr lang="en-US" dirty="0"/>
                    </a:p>
                  </a:txBody>
                  <a:tcPr/>
                </a:tc>
              </a:tr>
              <a:tr h="382582">
                <a:tc>
                  <a:txBody>
                    <a:bodyPr/>
                    <a:lstStyle/>
                    <a:p>
                      <a:r>
                        <a:rPr lang="en-US" dirty="0" err="1"/>
                        <a:t>json_schema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Dict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Enforce structured schema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5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715" y="3718560"/>
            <a:ext cx="4651375" cy="29825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175" y="3009900"/>
            <a:ext cx="1798320" cy="34969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rcRect l="6235"/>
          <a:stretch>
            <a:fillRect/>
          </a:stretch>
        </p:blipFill>
        <p:spPr>
          <a:xfrm>
            <a:off x="7988935" y="2870200"/>
            <a:ext cx="3201670" cy="37763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" y="481965"/>
            <a:ext cx="3622675" cy="5905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" y="1117600"/>
            <a:ext cx="4495800" cy="4191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445" y="1581785"/>
            <a:ext cx="4511040" cy="70866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" y="2332355"/>
            <a:ext cx="4133850" cy="13442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0206" y="-13640"/>
            <a:ext cx="12599474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3200" b="1" dirty="0" err="1">
                <a:solidFill>
                  <a:schemeClr val="accent4"/>
                </a:solidFill>
              </a:rPr>
              <a:t>extract_data</a:t>
            </a:r>
            <a:r>
              <a:rPr lang="en-US" sz="3200" b="1" dirty="0">
                <a:solidFill>
                  <a:schemeClr val="accent4"/>
                </a:solidFill>
              </a:rPr>
              <a:t>() -&gt; </a:t>
            </a:r>
            <a:r>
              <a:rPr lang="en-US" sz="3200" b="1" dirty="0" err="1">
                <a:solidFill>
                  <a:schemeClr val="accent4"/>
                </a:solidFill>
              </a:rPr>
              <a:t>specified_fields</a:t>
            </a:r>
            <a:endParaRPr lang="en-US" sz="3200" b="1" dirty="0">
              <a:solidFill>
                <a:schemeClr val="accent4"/>
              </a:solidFill>
            </a:endParaRPr>
          </a:p>
          <a:p>
            <a:endParaRPr lang="en-US" sz="3200" b="1" dirty="0">
              <a:solidFill>
                <a:schemeClr val="accent4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" y="481965"/>
            <a:ext cx="3622675" cy="5905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" y="1117600"/>
            <a:ext cx="4495800" cy="4191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45" y="1581785"/>
            <a:ext cx="4511040" cy="70866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45" y="2398395"/>
            <a:ext cx="5036820" cy="226314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0645" y="354330"/>
            <a:ext cx="4651375" cy="29825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rcRect l="1125"/>
          <a:stretch>
            <a:fillRect/>
          </a:stretch>
        </p:blipFill>
        <p:spPr>
          <a:xfrm>
            <a:off x="5503545" y="3608705"/>
            <a:ext cx="6249035" cy="29679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03909" y="225632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Local REST API mode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972" y="689965"/>
            <a:ext cx="4293452" cy="13674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79256" y="689965"/>
            <a:ext cx="61007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REST server uses the </a:t>
            </a:r>
            <a:r>
              <a:rPr lang="en-US" b="1" dirty="0"/>
              <a:t>same models as local mode</a:t>
            </a:r>
            <a:r>
              <a:rPr lang="en-US" dirty="0"/>
              <a:t>: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Layout model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OCR model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Table parser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66750" y="2376100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Dependency when installing </a:t>
            </a:r>
            <a:r>
              <a:rPr lang="en-US" b="1" dirty="0"/>
              <a:t>docstrange[web]</a:t>
            </a:r>
            <a:endParaRPr lang="en-US" dirty="0"/>
          </a:p>
          <a:p>
            <a:r>
              <a:rPr lang="en-US" dirty="0"/>
              <a:t>+ DocStrange</a:t>
            </a:r>
            <a:endParaRPr lang="en-US" dirty="0"/>
          </a:p>
          <a:p>
            <a:r>
              <a:rPr lang="en-US" dirty="0"/>
              <a:t>+ FastAPI server</a:t>
            </a:r>
            <a:endParaRPr lang="en-US" dirty="0"/>
          </a:p>
          <a:p>
            <a:r>
              <a:rPr lang="en-US" dirty="0"/>
              <a:t>+ Uvicorn runtime</a:t>
            </a:r>
            <a:endParaRPr lang="en-US" dirty="0"/>
          </a:p>
          <a:p>
            <a:r>
              <a:rPr lang="en-US" dirty="0"/>
              <a:t>+ Upload handling</a:t>
            </a:r>
            <a:endParaRPr lang="en-US" dirty="0"/>
          </a:p>
          <a:p>
            <a:r>
              <a:rPr lang="en-US" dirty="0"/>
              <a:t>+ API schema/validation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66750" y="44315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web version currently supports </a:t>
            </a:r>
            <a:r>
              <a:rPr lang="en-US" b="1" dirty="0"/>
              <a:t>cloud processing only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Executation</a:t>
            </a:r>
            <a:r>
              <a:rPr lang="en-US" dirty="0"/>
              <a:t> time statistics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838200" y="2689860"/>
          <a:ext cx="10515599" cy="2644144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71675"/>
                <a:gridCol w="1672936"/>
                <a:gridCol w="1601239"/>
                <a:gridCol w="2354060"/>
                <a:gridCol w="2915689"/>
              </a:tblGrid>
              <a:tr h="52224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File Pages</a:t>
                      </a:r>
                      <a:endParaRPr lang="en-US" sz="14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Input Format</a:t>
                      </a:r>
                      <a:endParaRPr lang="en-US" sz="14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Output Format</a:t>
                      </a:r>
                      <a:endParaRPr lang="en-US" sz="14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CPU (TMA Computer) Exe.Time (secs)</a:t>
                      </a:r>
                      <a:endParaRPr lang="en-US" sz="14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u="none" strike="noStrike">
                          <a:effectLst/>
                        </a:rPr>
                        <a:t>GPU T4 (Google Colab) Exe.Time (secs)</a:t>
                      </a:r>
                      <a:endParaRPr lang="fr-FR" sz="14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265237">
                <a:tc row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u="none" strike="noStrike" dirty="0">
                          <a:effectLst/>
                        </a:rPr>
                        <a:t>1 pages (4 </a:t>
                      </a:r>
                      <a:r>
                        <a:rPr lang="fr-FR" sz="1400" u="none" strike="noStrike" dirty="0" err="1">
                          <a:effectLst/>
                        </a:rPr>
                        <a:t>paragraphs</a:t>
                      </a:r>
                      <a:r>
                        <a:rPr lang="fr-FR" sz="1400" u="none" strike="noStrike" dirty="0">
                          <a:effectLst/>
                        </a:rPr>
                        <a:t> 1 table)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PDF</a:t>
                      </a:r>
                      <a:endParaRPr lang="en-US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Markdown</a:t>
                      </a:r>
                      <a:endParaRPr lang="en-US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22.803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265237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Text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23.137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265237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CSV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171.146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265237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JSON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234.781</a:t>
                      </a:r>
                      <a:endParaRPr lang="en-US" sz="1400" b="0" i="0" u="none" strike="noStrike">
                        <a:solidFill>
                          <a:srgbClr val="C9211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265237">
                <a:tc vMerge="1">
                  <a:tcPr/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DOCX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Markdown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8.251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0.044</a:t>
                      </a:r>
                      <a:endParaRPr lang="en-US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265237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Text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8.856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0.022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265237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CSV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151.917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7.879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265237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JSON</a:t>
                      </a:r>
                      <a:endParaRPr lang="en-US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114.918</a:t>
                      </a:r>
                      <a:endParaRPr lang="en-US" sz="1400" b="0" i="0" u="none" strike="noStrike">
                        <a:solidFill>
                          <a:srgbClr val="C9211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6.303</a:t>
                      </a:r>
                      <a:endParaRPr lang="en-US" sz="1400" b="0" i="0" u="none" strike="noStrike" dirty="0">
                        <a:solidFill>
                          <a:srgbClr val="C9211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975" marR="5975" marT="597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668431" cy="136226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3296734"/>
            <a:ext cx="5669279" cy="356126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2074431"/>
            <a:ext cx="6412992" cy="47835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2982</Words>
  <Application>WPS Presentation</Application>
  <PresentationFormat>Widescreen</PresentationFormat>
  <Paragraphs>243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3" baseType="lpstr">
      <vt:lpstr>Arial</vt:lpstr>
      <vt:lpstr>SimSun</vt:lpstr>
      <vt:lpstr>Wingdings</vt:lpstr>
      <vt:lpstr>Aptos</vt:lpstr>
      <vt:lpstr>Microsoft YaHei</vt:lpstr>
      <vt:lpstr>Droid Sans Fallback</vt:lpstr>
      <vt:lpstr>Arial Unicode MS</vt:lpstr>
      <vt:lpstr>Aptos Display</vt:lpstr>
      <vt:lpstr>C059</vt:lpstr>
      <vt:lpstr>OpenSymbol</vt:lpstr>
      <vt:lpstr>TeX Gyre DejaVu Math</vt:lpstr>
      <vt:lpstr>DejaVu Math TeX Gyre</vt:lpstr>
      <vt:lpstr>Office Theme</vt:lpstr>
      <vt:lpstr>PowerPoint 演示文稿</vt:lpstr>
      <vt:lpstr>PowerPoint 演示文稿</vt:lpstr>
      <vt:lpstr>DocumentExtractor - Constructor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Executation time statistics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Sơn Huỳnh - Minh H 🦁</dc:creator>
  <cp:lastModifiedBy>nhan</cp:lastModifiedBy>
  <cp:revision>107</cp:revision>
  <dcterms:created xsi:type="dcterms:W3CDTF">2026-03-17T14:44:15Z</dcterms:created>
  <dcterms:modified xsi:type="dcterms:W3CDTF">2026-03-17T14:44:15Z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