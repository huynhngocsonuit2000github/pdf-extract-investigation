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1" r:id="rId2"/>
    <p:sldId id="265" r:id="rId3"/>
    <p:sldId id="257" r:id="rId4"/>
    <p:sldId id="258" r:id="rId5"/>
    <p:sldId id="259" r:id="rId6"/>
    <p:sldId id="260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ocStrange" id="{2BA6BE37-5014-443A-8819-F5DA7B6F2100}">
          <p14:sldIdLst>
            <p14:sldId id="261"/>
            <p14:sldId id="265"/>
            <p14:sldId id="257"/>
            <p14:sldId id="258"/>
            <p14:sldId id="259"/>
            <p14:sldId id="260"/>
            <p14:sldId id="262"/>
          </p14:sldIdLst>
        </p14:section>
        <p14:section name="docstrange_local" id="{49F6AACB-1F76-465E-B0B5-B9F3926CBDC2}">
          <p14:sldIdLst>
            <p14:sldId id="264"/>
          </p14:sldIdLst>
        </p14:section>
        <p14:section name="PdfPlumber" id="{97ACF4E4-4035-4B3A-BDA3-130926B1BCB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35"/>
    <p:restoredTop sz="92136" autoAdjust="0"/>
  </p:normalViewPr>
  <p:slideViewPr>
    <p:cSldViewPr snapToGrid="0">
      <p:cViewPr varScale="1">
        <p:scale>
          <a:sx n="84" d="100"/>
          <a:sy n="84" d="100"/>
        </p:scale>
        <p:origin x="8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5AE7A-CA33-DB47-A094-C920B571FBEB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33648-3A71-9246-A459-6F22AB07DEE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951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Local CPU mode - </a:t>
            </a:r>
            <a:r>
              <a:rPr lang="en-US" dirty="0"/>
              <a:t>Common underlying models (from the </a:t>
            </a:r>
            <a:r>
              <a:rPr lang="en-US" dirty="0" err="1"/>
              <a:t>DocStrange</a:t>
            </a:r>
            <a:r>
              <a:rPr lang="en-US" dirty="0"/>
              <a:t> stack):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Layout detection → </a:t>
            </a:r>
            <a:r>
              <a:rPr lang="en-US" b="1" dirty="0" err="1"/>
              <a:t>DocLayout</a:t>
            </a:r>
            <a:r>
              <a:rPr lang="en-US" b="1" dirty="0"/>
              <a:t> / </a:t>
            </a:r>
            <a:r>
              <a:rPr lang="en-US" b="1" dirty="0" err="1"/>
              <a:t>LayoutLM</a:t>
            </a:r>
            <a:r>
              <a:rPr lang="en-US" b="1" dirty="0"/>
              <a:t>-based models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OCR → </a:t>
            </a:r>
            <a:r>
              <a:rPr lang="en-US" b="1" dirty="0" err="1"/>
              <a:t>PaddleOCR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Table structure → </a:t>
            </a:r>
            <a:r>
              <a:rPr lang="en-US" b="1" dirty="0" err="1"/>
              <a:t>TableTransformer</a:t>
            </a:r>
            <a:r>
              <a:rPr lang="en-US" b="1" dirty="0"/>
              <a:t> / </a:t>
            </a:r>
            <a:r>
              <a:rPr lang="en-US" b="1" dirty="0" err="1"/>
              <a:t>PPStructure</a:t>
            </a:r>
            <a:endParaRPr lang="en-US" dirty="0"/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3648-3A71-9246-A459-6F22AB07DEE3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05886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3648-3A71-9246-A459-6F22AB07DEE3}" type="slidenum">
              <a:rPr lang="en-VN" smtClean="0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8850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uname</a:t>
            </a:r>
            <a:r>
              <a:rPr lang="en-US" dirty="0"/>
              <a:t> –a</a:t>
            </a:r>
          </a:p>
          <a:p>
            <a:endParaRPr lang="en-US" dirty="0"/>
          </a:p>
          <a:p>
            <a:r>
              <a:rPr lang="en-US" dirty="0" err="1"/>
              <a:t>DocStrange</a:t>
            </a:r>
            <a:r>
              <a:rPr lang="en-US" dirty="0"/>
              <a:t> GPU requires </a:t>
            </a:r>
            <a:r>
              <a:rPr lang="en-US" b="1" dirty="0"/>
              <a:t>CUDA</a:t>
            </a:r>
            <a:r>
              <a:rPr lang="en-US" dirty="0"/>
              <a:t>, which only works with </a:t>
            </a:r>
            <a:r>
              <a:rPr lang="en-US" b="1" dirty="0"/>
              <a:t>NVIDIA GPUs on Linux/Windows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Pdfplumber</a:t>
            </a:r>
            <a:r>
              <a:rPr lang="en-US" dirty="0"/>
              <a:t> or </a:t>
            </a:r>
            <a:r>
              <a:rPr lang="en-US" b="1" dirty="0"/>
              <a:t>unstructured</a:t>
            </a:r>
            <a:r>
              <a:rPr lang="en-US" dirty="0"/>
              <a:t> =&gt; best case</a:t>
            </a:r>
          </a:p>
          <a:p>
            <a:endParaRPr lang="en-US" b="1" dirty="0"/>
          </a:p>
          <a:p>
            <a:r>
              <a:rPr lang="en-US" b="1" dirty="0"/>
              <a:t>PDF → </a:t>
            </a:r>
            <a:r>
              <a:rPr lang="en-US" b="1" dirty="0" err="1"/>
              <a:t>pdfplumber</a:t>
            </a:r>
            <a:br>
              <a:rPr lang="en-US" b="1" dirty="0"/>
            </a:br>
            <a:r>
              <a:rPr lang="en-US" b="1" dirty="0"/>
              <a:t>DOCX → python-docx</a:t>
            </a:r>
            <a:br>
              <a:rPr lang="en-US" b="1" dirty="0"/>
            </a:br>
            <a:r>
              <a:rPr lang="en-US" b="1" dirty="0"/>
              <a:t>Images → tesseract</a:t>
            </a:r>
            <a:endParaRPr lang="en-V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3648-3A71-9246-A459-6F22AB07DEE3}" type="slidenum">
              <a:rPr lang="en-VN" smtClean="0"/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45637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33648-3A71-9246-A459-6F22AB07DEE3}" type="slidenum">
              <a:rPr lang="en-VN" smtClean="0"/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88280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4426-EFD6-AAAA-E10C-CC7557313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615B3-25A4-2323-9F6E-CA0B84191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C6800-A0AD-2175-4C4D-BFD2168A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3AAF2-8562-00B3-B6FF-7C3A2E83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FD8D8-A20F-17AA-827C-CB2D6E82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06460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FFBCE-829F-7532-9A36-4990579D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81F3E-A63F-FC7E-3D78-B2763B8B6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6F03E-5D65-609D-7BCC-8D19F8261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6555-FDD3-55D5-8519-020A2257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D64A9-F846-67B0-7972-3D55CA6D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0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86A6-5470-0AD7-58CA-240045DA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68338-1967-1E33-B7AF-F93505CDA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8B02E-884C-AA3C-220F-FF560A12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7973-D80A-94D3-2C2E-023E1831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5D2D2-A805-D52B-9814-7C143FDC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2324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B0AC-C71A-8F48-56E0-D4C213FF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160B2-C234-D82C-89AF-CF1C7BD1B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1981C-7DC3-1D03-A8F3-9E68D058F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19C50-52F8-A6A4-88BD-63ACD337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C9338-2E7E-CBED-E40E-083E7644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50A03-6496-B674-1333-A011B883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4186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E7C1-F91E-8BD2-03AF-44E1EB1A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6B803-C3C0-85EF-5568-0323AE1B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78BA9-FEA3-F802-E463-425B7B6A7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82A82-6993-28C6-865A-7E826CFF3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F9B09-9366-E30B-9FE1-F6B0C9850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6ED06-CEE2-DAA3-DC49-3DA801DE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F0C60-64EA-DA52-8E43-428D262D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E89F4-60FB-2921-9CA9-EFFE7F0C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14169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E7BD-9BA9-25CA-3332-3C5856D2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D76A6-2C14-F83B-7356-27DB2B8F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BB29C-7C7E-6F79-28D1-DDBB319B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B85B0-516F-5109-93AA-529569D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965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6236C-BBCE-78FF-FE74-5F2EE67D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3E478-E9B8-2A44-9D67-5753EB1A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9795C-6376-720A-6F8D-5122B762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704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0B9C-9DD9-4593-DC32-F5FC5F97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488D-4548-BE51-6B63-511F62DDB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30B89-72E5-011E-D72E-28DE22B40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54C7B-4F58-CBFE-DDB3-773DE605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7AF57-5A6A-A5A3-7E58-C474DCB2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6A9A9-4352-560F-87D0-7CB22A27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2869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0CBF-7949-3597-F886-971C51951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42CA9-0CFF-9C72-5C68-66C7D1F05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F2801-DA72-C641-C0F6-07B3EA50B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1F0BB-2CFA-87E7-E720-77249EE3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2CC15-45A6-7CCA-4FF4-0E57DA44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69680-C7BA-F290-8281-E89A57F3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7181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E86A-3DAE-50B0-8A17-008D7C17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0B638-C386-E426-8BEC-F2A7C787C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6A26D-38F6-9799-6944-91D96409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2BEFA-38D3-7E02-67FD-7428E0DD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5D240-D6C3-EDDD-9076-F6FB635A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6955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48A4E-DEA9-5801-4EB3-E0E45C1E7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C8961-75F0-1567-4256-157B15392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E0F54-CA95-D2BB-4E9C-F9ED08D1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ED245-8574-430E-19F3-8DB0CF3B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61B3E-CFBE-79F4-784C-CD9B0B47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7299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6B53A-5D08-919C-8D20-49D77AE4D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2844D-1731-BEA3-A3FB-2517C8115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E696A-F353-1AD4-9FFE-A5E020C16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4D681-7D00-494D-8178-8A5F621D8CBA}" type="datetimeFigureOut">
              <a:rPr lang="en-VN" smtClean="0"/>
              <a:t>03/17/2026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ABA5-6377-A135-B6DC-4AC799D68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BD32E-D421-A3AD-7E67-FD561825D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36747-5B7A-A94A-BBB8-41A0822C9E3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0506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19FEB-0933-F44B-8535-AFC2BC13A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07" y="127454"/>
            <a:ext cx="4006931" cy="5019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 err="1"/>
              <a:t>docstrange</a:t>
            </a:r>
            <a:r>
              <a:rPr lang="en-US" sz="2000" dirty="0"/>
              <a:t>==1.1.8</a:t>
            </a:r>
            <a:endParaRPr lang="en-VN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F3D47-D952-C4E1-92C6-EED688302604}"/>
              </a:ext>
            </a:extLst>
          </p:cNvPr>
          <p:cNvSpPr txBox="1"/>
          <p:nvPr/>
        </p:nvSpPr>
        <p:spPr>
          <a:xfrm>
            <a:off x="5846049" y="511822"/>
            <a:ext cx="65314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Processing happens in </a:t>
            </a:r>
            <a:r>
              <a:rPr lang="en-US" b="1" dirty="0" err="1"/>
              <a:t>DocStrange</a:t>
            </a:r>
            <a:r>
              <a:rPr lang="en-US" b="1" dirty="0"/>
              <a:t> cloud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Requires internet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Usually </a:t>
            </a:r>
            <a:r>
              <a:rPr lang="en-US" b="1" dirty="0"/>
              <a:t>fast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Just support GPU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B3D9B7-7FE4-28DF-42F8-9EC6EF449D62}"/>
              </a:ext>
            </a:extLst>
          </p:cNvPr>
          <p:cNvSpPr txBox="1">
            <a:spLocks/>
          </p:cNvSpPr>
          <p:nvPr/>
        </p:nvSpPr>
        <p:spPr>
          <a:xfrm>
            <a:off x="161307" y="1840530"/>
            <a:ext cx="4639293" cy="653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 err="1"/>
              <a:t>docstrange</a:t>
            </a:r>
            <a:r>
              <a:rPr lang="en-US" sz="2000" dirty="0"/>
              <a:t>==1.1.3 &amp; </a:t>
            </a:r>
            <a:r>
              <a:rPr lang="en-US" sz="2000" dirty="0" err="1"/>
              <a:t>cpu</a:t>
            </a:r>
            <a:r>
              <a:rPr lang="en-US" sz="2000" dirty="0"/>
              <a:t> mode</a:t>
            </a:r>
            <a:endParaRPr lang="en-VN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A2766E-5EC6-BE16-4965-774D65B64637}"/>
              </a:ext>
            </a:extLst>
          </p:cNvPr>
          <p:cNvSpPr txBox="1"/>
          <p:nvPr/>
        </p:nvSpPr>
        <p:spPr>
          <a:xfrm>
            <a:off x="5846049" y="2419315"/>
            <a:ext cx="51301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Fully </a:t>
            </a:r>
            <a:r>
              <a:rPr lang="en-US" b="1" dirty="0"/>
              <a:t>offline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Runs </a:t>
            </a:r>
            <a:r>
              <a:rPr lang="en-US" b="1" dirty="0"/>
              <a:t>ML models locally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Works on Mac / Linux / Windows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Slower</a:t>
            </a:r>
            <a:r>
              <a:rPr lang="en-US" dirty="0"/>
              <a:t> for large documents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6CBB70C-AF05-8474-818C-CDB494F80887}"/>
              </a:ext>
            </a:extLst>
          </p:cNvPr>
          <p:cNvSpPr txBox="1">
            <a:spLocks/>
          </p:cNvSpPr>
          <p:nvPr/>
        </p:nvSpPr>
        <p:spPr>
          <a:xfrm>
            <a:off x="80653" y="3429000"/>
            <a:ext cx="4800600" cy="812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 err="1"/>
              <a:t>docstrange</a:t>
            </a:r>
            <a:r>
              <a:rPr lang="en-US" sz="2000" dirty="0"/>
              <a:t>==1.1.3 &amp; </a:t>
            </a:r>
            <a:r>
              <a:rPr lang="en-US" sz="2000" dirty="0" err="1"/>
              <a:t>gpu</a:t>
            </a:r>
            <a:r>
              <a:rPr lang="en-US" sz="2000" dirty="0"/>
              <a:t> mode</a:t>
            </a:r>
            <a:endParaRPr lang="en-VN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9DEC8B-1C5F-D741-430B-63678433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66" y="627599"/>
            <a:ext cx="4333835" cy="1000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F8634C-B3D5-A8DA-C723-36D0088CB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66" y="2419315"/>
            <a:ext cx="4333835" cy="9258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98239DD-4C11-0FDA-4A7E-05AE7B437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07" y="4034142"/>
            <a:ext cx="4333835" cy="90342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0408817-9A7A-0C15-B3CB-ABE54B8262FC}"/>
              </a:ext>
            </a:extLst>
          </p:cNvPr>
          <p:cNvSpPr txBox="1"/>
          <p:nvPr/>
        </p:nvSpPr>
        <p:spPr>
          <a:xfrm>
            <a:off x="5926702" y="4123967"/>
            <a:ext cx="331816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NVIDIA GPU (or MPS)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08206E-E843-C2DF-7BD9-450D95AD3DF9}"/>
              </a:ext>
            </a:extLst>
          </p:cNvPr>
          <p:cNvSpPr txBox="1"/>
          <p:nvPr/>
        </p:nvSpPr>
        <p:spPr>
          <a:xfrm>
            <a:off x="5929176" y="5007350"/>
            <a:ext cx="3318163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Advantages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5–20× faster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Best for large PDFs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C7D5E-9262-88DE-1DF5-DEA59A718F37}"/>
              </a:ext>
            </a:extLst>
          </p:cNvPr>
          <p:cNvSpPr txBox="1"/>
          <p:nvPr/>
        </p:nvSpPr>
        <p:spPr>
          <a:xfrm>
            <a:off x="38531" y="5126600"/>
            <a:ext cx="55549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PDF:</a:t>
            </a:r>
            <a:r>
              <a:rPr lang="en-US" dirty="0"/>
              <a:t> Uses OCR because files may contain scanned images instead of text.</a:t>
            </a:r>
            <a:br>
              <a:rPr lang="en-US" dirty="0"/>
            </a:br>
            <a:r>
              <a:rPr lang="en-US" b="1" dirty="0"/>
              <a:t>DOCX:</a:t>
            </a:r>
            <a:r>
              <a:rPr lang="en-US" dirty="0"/>
              <a:t> No OCR needed; content and tables are stored in structured XML, enabling more accurate table extraction than PDF.</a:t>
            </a:r>
          </a:p>
        </p:txBody>
      </p:sp>
    </p:spTree>
    <p:extLst>
      <p:ext uri="{BB962C8B-B14F-4D97-AF65-F5344CB8AC3E}">
        <p14:creationId xmlns:p14="http://schemas.microsoft.com/office/powerpoint/2010/main" val="25755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8D76C-B338-AEC4-D3C7-EE811122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5"/>
            <a:ext cx="10515600" cy="998855"/>
          </a:xfrm>
        </p:spPr>
        <p:txBody>
          <a:bodyPr/>
          <a:lstStyle/>
          <a:p>
            <a:pPr algn="ctr"/>
            <a:r>
              <a:rPr lang="en-US" dirty="0" err="1"/>
              <a:t>DocumentExtractor</a:t>
            </a:r>
            <a:r>
              <a:rPr lang="en-US" dirty="0"/>
              <a:t> - Constructor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EC617B-BC76-CEA0-B355-7FF2960E8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231445"/>
            <a:ext cx="5562600" cy="8287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82B312-BD3C-4128-020F-00C624CAC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95890"/>
              </p:ext>
            </p:extLst>
          </p:nvPr>
        </p:nvGraphicFramePr>
        <p:xfrm>
          <a:off x="1828800" y="2340134"/>
          <a:ext cx="8755380" cy="3661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1856">
                  <a:extLst>
                    <a:ext uri="{9D8B030D-6E8A-4147-A177-3AD203B41FA5}">
                      <a16:colId xmlns:a16="http://schemas.microsoft.com/office/drawing/2014/main" val="2505731717"/>
                    </a:ext>
                  </a:extLst>
                </a:gridCol>
                <a:gridCol w="1311436">
                  <a:extLst>
                    <a:ext uri="{9D8B030D-6E8A-4147-A177-3AD203B41FA5}">
                      <a16:colId xmlns:a16="http://schemas.microsoft.com/office/drawing/2014/main" val="3044214699"/>
                    </a:ext>
                  </a:extLst>
                </a:gridCol>
                <a:gridCol w="1122485">
                  <a:extLst>
                    <a:ext uri="{9D8B030D-6E8A-4147-A177-3AD203B41FA5}">
                      <a16:colId xmlns:a16="http://schemas.microsoft.com/office/drawing/2014/main" val="4092892936"/>
                    </a:ext>
                  </a:extLst>
                </a:gridCol>
                <a:gridCol w="4639603">
                  <a:extLst>
                    <a:ext uri="{9D8B030D-6E8A-4147-A177-3AD203B41FA5}">
                      <a16:colId xmlns:a16="http://schemas.microsoft.com/office/drawing/2014/main" val="3827067773"/>
                    </a:ext>
                  </a:extLst>
                </a:gridCol>
              </a:tblGrid>
              <a:tr h="569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Parameter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Type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Default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Meaning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extLst>
                  <a:ext uri="{0D108BD9-81ED-4DB2-BD59-A6C34878D82A}">
                    <a16:rowId xmlns:a16="http://schemas.microsoft.com/office/drawing/2014/main" val="52020452"/>
                  </a:ext>
                </a:extLst>
              </a:tr>
              <a:tr h="569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 err="1">
                          <a:effectLst/>
                        </a:rPr>
                        <a:t>api_key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str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None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Nanonets API key for cloud tier. Omit to use cached login or free tier.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extLst>
                  <a:ext uri="{0D108BD9-81ED-4DB2-BD59-A6C34878D82A}">
                    <a16:rowId xmlns:a16="http://schemas.microsoft.com/office/drawing/2014/main" val="1887085111"/>
                  </a:ext>
                </a:extLst>
              </a:tr>
              <a:tr h="569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model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str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None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Cloud model: "nanonets" (default), "gemini", or "openapi".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extLst>
                  <a:ext uri="{0D108BD9-81ED-4DB2-BD59-A6C34878D82A}">
                    <a16:rowId xmlns:a16="http://schemas.microsoft.com/office/drawing/2014/main" val="1612352539"/>
                  </a:ext>
                </a:extLst>
              </a:tr>
              <a:tr h="569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 err="1">
                          <a:effectLst/>
                        </a:rPr>
                        <a:t>ocr_enabled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bool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True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Use to activate OCR (but PDF mandatory uses OCR).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extLst>
                  <a:ext uri="{0D108BD9-81ED-4DB2-BD59-A6C34878D82A}">
                    <a16:rowId xmlns:a16="http://schemas.microsoft.com/office/drawing/2014/main" val="2844943285"/>
                  </a:ext>
                </a:extLst>
              </a:tr>
              <a:tr h="7849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cpu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bool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False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Force local CPU mode. Requires docstrange[local-llm] + Ollama running.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extLst>
                  <a:ext uri="{0D108BD9-81ED-4DB2-BD59-A6C34878D82A}">
                    <a16:rowId xmlns:a16="http://schemas.microsoft.com/office/drawing/2014/main" val="1923696722"/>
                  </a:ext>
                </a:extLst>
              </a:tr>
              <a:tr h="5697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gpu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bool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False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Force local GPU (CUDA) mode. Fastest local option. Requires CUDA + Ollama.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/>
                </a:tc>
                <a:extLst>
                  <a:ext uri="{0D108BD9-81ED-4DB2-BD59-A6C34878D82A}">
                    <a16:rowId xmlns:a16="http://schemas.microsoft.com/office/drawing/2014/main" val="4160449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65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AA442-3988-82A1-BC42-8A7F0C33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9BFA0C-D882-48B6-A330-F0FEB85A4541}"/>
              </a:ext>
            </a:extLst>
          </p:cNvPr>
          <p:cNvSpPr txBox="1"/>
          <p:nvPr/>
        </p:nvSpPr>
        <p:spPr>
          <a:xfrm>
            <a:off x="5307573" y="594701"/>
            <a:ext cx="66043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DocumentExtractor</a:t>
            </a: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from the </a:t>
            </a:r>
            <a:r>
              <a:rPr lang="en-US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docstrange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library, use to read document, extract content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3D8D06-DA7F-372C-BF61-412A49580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599"/>
            <a:ext cx="4116861" cy="3609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E23264-1935-2F68-8519-FEF859B38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4" y="4207393"/>
            <a:ext cx="7772396" cy="2650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448745-5ED8-8B3F-D89B-EED6B07B9F80}"/>
              </a:ext>
            </a:extLst>
          </p:cNvPr>
          <p:cNvSpPr txBox="1"/>
          <p:nvPr/>
        </p:nvSpPr>
        <p:spPr>
          <a:xfrm>
            <a:off x="5307573" y="1598662"/>
            <a:ext cx="660433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/>
              <a:t>extractor.extract</a:t>
            </a:r>
            <a:r>
              <a:rPr lang="en-US" b="1" dirty="0"/>
              <a:t>("</a:t>
            </a:r>
            <a:r>
              <a:rPr lang="en-US" b="1" dirty="0" err="1"/>
              <a:t>sample.pdf</a:t>
            </a:r>
            <a:r>
              <a:rPr lang="en-US" b="1" dirty="0"/>
              <a:t>"): </a:t>
            </a:r>
            <a:r>
              <a:rPr lang="en-US" dirty="0"/>
              <a:t>call method and return </a:t>
            </a:r>
            <a:r>
              <a:rPr lang="en-US" b="1" dirty="0" err="1"/>
              <a:t>ConversionResult</a:t>
            </a:r>
            <a:r>
              <a:rPr lang="en-US" b="1" dirty="0"/>
              <a:t> </a:t>
            </a:r>
            <a:r>
              <a:rPr lang="en-US" dirty="0"/>
              <a:t>object containing parsed data (text, tables, metadata, etc.).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3FD3A6-6B94-004A-DC03-C7EBD1592532}"/>
              </a:ext>
            </a:extLst>
          </p:cNvPr>
          <p:cNvSpPr/>
          <p:nvPr/>
        </p:nvSpPr>
        <p:spPr>
          <a:xfrm>
            <a:off x="80206" y="-151110"/>
            <a:ext cx="674731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ln/>
                <a:solidFill>
                  <a:schemeClr val="accent4"/>
                </a:solidFill>
              </a:rPr>
              <a:t>e</a:t>
            </a:r>
            <a:r>
              <a:rPr lang="en-US" sz="3200" b="1" cap="none" spc="0" dirty="0" err="1">
                <a:ln/>
                <a:solidFill>
                  <a:schemeClr val="accent4"/>
                </a:solidFill>
                <a:effectLst/>
              </a:rPr>
              <a:t>xtract_text</a:t>
            </a:r>
            <a:r>
              <a:rPr lang="en-US" sz="3200" b="1" cap="none" spc="0" dirty="0">
                <a:ln/>
                <a:solidFill>
                  <a:schemeClr val="accent4"/>
                </a:solidFill>
                <a:effectLst/>
              </a:rPr>
              <a:t>()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23EA84-CF60-386F-CBFE-4BE50B84B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6" y="571135"/>
            <a:ext cx="5129747" cy="2580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06E2EA-617B-91F9-18D2-18913B26E3D6}"/>
              </a:ext>
            </a:extLst>
          </p:cNvPr>
          <p:cNvSpPr txBox="1"/>
          <p:nvPr/>
        </p:nvSpPr>
        <p:spPr>
          <a:xfrm>
            <a:off x="5307572" y="3110776"/>
            <a:ext cx="66043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 err="1"/>
              <a:t>result.extract_text</a:t>
            </a:r>
            <a:r>
              <a:rPr lang="en-US" b="1" dirty="0"/>
              <a:t>(): </a:t>
            </a:r>
            <a:r>
              <a:rPr lang="en-US" dirty="0"/>
              <a:t>all textual content found in the document.</a:t>
            </a:r>
          </a:p>
        </p:txBody>
      </p:sp>
    </p:spTree>
    <p:extLst>
      <p:ext uri="{BB962C8B-B14F-4D97-AF65-F5344CB8AC3E}">
        <p14:creationId xmlns:p14="http://schemas.microsoft.com/office/powerpoint/2010/main" val="126769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B3BD-10C6-B09B-9575-F0847273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E3685B-3E37-BE2C-1AFB-25AD59D79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599"/>
            <a:ext cx="4116861" cy="36094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9F9B94E-79FE-39CC-B65F-FA34BC11D737}"/>
              </a:ext>
            </a:extLst>
          </p:cNvPr>
          <p:cNvSpPr/>
          <p:nvPr/>
        </p:nvSpPr>
        <p:spPr>
          <a:xfrm>
            <a:off x="80206" y="-13640"/>
            <a:ext cx="459781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ln/>
                <a:solidFill>
                  <a:schemeClr val="accent4"/>
                </a:solidFill>
              </a:rPr>
              <a:t>extract_markdown</a:t>
            </a:r>
            <a:r>
              <a:rPr lang="en-US" sz="3200" b="1" dirty="0">
                <a:ln/>
                <a:solidFill>
                  <a:schemeClr val="accent4"/>
                </a:solidFill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92F86-9411-50D2-C000-329333142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0" y="594701"/>
            <a:ext cx="5132019" cy="25982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0AADFE-9D64-F723-9AD7-21035180A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180115"/>
            <a:ext cx="7772400" cy="2677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C748C0-AA88-02AE-3770-836F71B515C5}"/>
              </a:ext>
            </a:extLst>
          </p:cNvPr>
          <p:cNvSpPr txBox="1"/>
          <p:nvPr/>
        </p:nvSpPr>
        <p:spPr>
          <a:xfrm>
            <a:off x="5307573" y="594701"/>
            <a:ext cx="66043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DocumentExtractor</a:t>
            </a: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from the </a:t>
            </a:r>
            <a:r>
              <a:rPr lang="en-US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docstrange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library, use to read document, extract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59950-19EB-D362-C631-7B61F52ED02D}"/>
              </a:ext>
            </a:extLst>
          </p:cNvPr>
          <p:cNvSpPr txBox="1"/>
          <p:nvPr/>
        </p:nvSpPr>
        <p:spPr>
          <a:xfrm>
            <a:off x="5307573" y="1598662"/>
            <a:ext cx="688442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/>
              <a:t>extractor.extract</a:t>
            </a:r>
            <a:r>
              <a:rPr lang="en-US" b="1" dirty="0"/>
              <a:t>("</a:t>
            </a:r>
            <a:r>
              <a:rPr lang="en-US" b="1" dirty="0" err="1"/>
              <a:t>sample.pdf</a:t>
            </a:r>
            <a:r>
              <a:rPr lang="en-US" b="1" dirty="0"/>
              <a:t>"): </a:t>
            </a:r>
            <a:r>
              <a:rPr lang="en-US" dirty="0"/>
              <a:t>call method and return </a:t>
            </a:r>
            <a:r>
              <a:rPr lang="en-US" b="1" dirty="0"/>
              <a:t>extraction result object </a:t>
            </a:r>
            <a:r>
              <a:rPr lang="en-US" dirty="0"/>
              <a:t>containing parsed data (text, tables, metadata, etc.).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488CE-4D4F-38B7-37BA-73C0424E6171}"/>
              </a:ext>
            </a:extLst>
          </p:cNvPr>
          <p:cNvSpPr txBox="1"/>
          <p:nvPr/>
        </p:nvSpPr>
        <p:spPr>
          <a:xfrm>
            <a:off x="5307572" y="2785971"/>
            <a:ext cx="688442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 err="1"/>
              <a:t>extract_markdown</a:t>
            </a:r>
            <a:r>
              <a:rPr lang="en-US" b="1" dirty="0"/>
              <a:t>(): </a:t>
            </a:r>
            <a:r>
              <a:rPr lang="en-US" dirty="0"/>
              <a:t>returns the document as Markdown, preserving structure like headings, lists, and tables.</a:t>
            </a:r>
          </a:p>
        </p:txBody>
      </p:sp>
    </p:spTree>
    <p:extLst>
      <p:ext uri="{BB962C8B-B14F-4D97-AF65-F5344CB8AC3E}">
        <p14:creationId xmlns:p14="http://schemas.microsoft.com/office/powerpoint/2010/main" val="212733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1D94-2D99-E417-0753-3B889D82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9A4B9E-D891-A99C-E950-016F0458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599"/>
            <a:ext cx="4116861" cy="36094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EDB62A-8486-58C9-4060-2B689C4029FB}"/>
              </a:ext>
            </a:extLst>
          </p:cNvPr>
          <p:cNvSpPr/>
          <p:nvPr/>
        </p:nvSpPr>
        <p:spPr>
          <a:xfrm>
            <a:off x="80206" y="-13640"/>
            <a:ext cx="382194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3200" b="1" dirty="0" err="1">
                <a:ln/>
                <a:solidFill>
                  <a:schemeClr val="accent4"/>
                </a:solidFill>
              </a:rPr>
              <a:t>extract_data</a:t>
            </a:r>
            <a:r>
              <a:rPr lang="en-US" sz="3200" b="1" dirty="0">
                <a:ln/>
                <a:solidFill>
                  <a:schemeClr val="accent4"/>
                </a:solidFill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E75A2C-1833-3501-6CFA-63D2170032A2}"/>
              </a:ext>
            </a:extLst>
          </p:cNvPr>
          <p:cNvSpPr txBox="1"/>
          <p:nvPr/>
        </p:nvSpPr>
        <p:spPr>
          <a:xfrm>
            <a:off x="5326254" y="631907"/>
            <a:ext cx="6604339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350"/>
              </a:lnSpc>
              <a:buNone/>
            </a:pPr>
            <a:r>
              <a:rPr lang="en-US" b="1" dirty="0" err="1"/>
              <a:t>extract_data</a:t>
            </a:r>
            <a:r>
              <a:rPr lang="en-US" b="1" dirty="0"/>
              <a:t>(): </a:t>
            </a:r>
            <a:r>
              <a:rPr lang="en-US" dirty="0"/>
              <a:t>returns the </a:t>
            </a:r>
            <a:r>
              <a:rPr lang="en-US" dirty="0" err="1"/>
              <a:t>json</a:t>
            </a:r>
            <a:r>
              <a:rPr lang="en-US" dirty="0"/>
              <a:t>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BA37A0-A55A-1691-5400-94E0C7AB6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953" y="3085698"/>
            <a:ext cx="5246047" cy="3772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B42C08-0A1F-A9CB-B00C-1E09A4FE3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6" y="594701"/>
            <a:ext cx="5165842" cy="269425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F35DA2-6FEE-A03E-AD27-733DE3A53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9900"/>
              </p:ext>
            </p:extLst>
          </p:nvPr>
        </p:nvGraphicFramePr>
        <p:xfrm>
          <a:off x="5425808" y="1536900"/>
          <a:ext cx="6604338" cy="114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51">
                  <a:extLst>
                    <a:ext uri="{9D8B030D-6E8A-4147-A177-3AD203B41FA5}">
                      <a16:colId xmlns:a16="http://schemas.microsoft.com/office/drawing/2014/main" val="2698673455"/>
                    </a:ext>
                  </a:extLst>
                </a:gridCol>
                <a:gridCol w="1435396">
                  <a:extLst>
                    <a:ext uri="{9D8B030D-6E8A-4147-A177-3AD203B41FA5}">
                      <a16:colId xmlns:a16="http://schemas.microsoft.com/office/drawing/2014/main" val="4175684505"/>
                    </a:ext>
                  </a:extLst>
                </a:gridCol>
                <a:gridCol w="3194491">
                  <a:extLst>
                    <a:ext uri="{9D8B030D-6E8A-4147-A177-3AD203B41FA5}">
                      <a16:colId xmlns:a16="http://schemas.microsoft.com/office/drawing/2014/main" val="459115999"/>
                    </a:ext>
                  </a:extLst>
                </a:gridCol>
              </a:tblGrid>
              <a:tr h="377341">
                <a:tc>
                  <a:txBody>
                    <a:bodyPr/>
                    <a:lstStyle/>
                    <a:p>
                      <a:r>
                        <a:rPr lang="en-VN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425928"/>
                  </a:ext>
                </a:extLst>
              </a:tr>
              <a:tr h="382582">
                <a:tc>
                  <a:txBody>
                    <a:bodyPr/>
                    <a:lstStyle/>
                    <a:p>
                      <a:r>
                        <a:rPr lang="en-US" dirty="0" err="1"/>
                        <a:t>specified_fields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List[str]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 only specific fields</a:t>
                      </a:r>
                      <a:endParaRPr lang="en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98742"/>
                  </a:ext>
                </a:extLst>
              </a:tr>
              <a:tr h="382582">
                <a:tc>
                  <a:txBody>
                    <a:bodyPr/>
                    <a:lstStyle/>
                    <a:p>
                      <a:r>
                        <a:rPr lang="en-US" dirty="0" err="1"/>
                        <a:t>json_schema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Dict</a:t>
                      </a:r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Enforce structured schema</a:t>
                      </a:r>
                      <a:endParaRPr lang="en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368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08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3C17-5720-56C3-452D-ADCCA375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FAF074-994C-1D69-CBDA-D8DD0E1D7C0F}"/>
              </a:ext>
            </a:extLst>
          </p:cNvPr>
          <p:cNvSpPr/>
          <p:nvPr/>
        </p:nvSpPr>
        <p:spPr>
          <a:xfrm>
            <a:off x="80206" y="-13640"/>
            <a:ext cx="12599474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3200" b="1" dirty="0" err="1">
                <a:ln/>
                <a:solidFill>
                  <a:schemeClr val="accent4"/>
                </a:solidFill>
              </a:rPr>
              <a:t>extract_data</a:t>
            </a:r>
            <a:r>
              <a:rPr lang="en-US" sz="3200" b="1" dirty="0">
                <a:ln/>
                <a:solidFill>
                  <a:schemeClr val="accent4"/>
                </a:solidFill>
              </a:rPr>
              <a:t>() -&gt; </a:t>
            </a:r>
            <a:r>
              <a:rPr lang="en-US" sz="3200" b="1" dirty="0" err="1">
                <a:ln/>
                <a:solidFill>
                  <a:schemeClr val="accent4"/>
                </a:solidFill>
              </a:rPr>
              <a:t>specified_fields</a:t>
            </a:r>
            <a:endParaRPr lang="en-VN" sz="3200" b="1" dirty="0">
              <a:ln/>
              <a:solidFill>
                <a:schemeClr val="accent4"/>
              </a:solidFill>
            </a:endParaRPr>
          </a:p>
          <a:p>
            <a:endParaRPr lang="en-US" sz="3200" b="1" dirty="0">
              <a:ln/>
              <a:solidFill>
                <a:schemeClr val="accent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9CADE1-8B1B-467A-F449-38673A4C1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877" y="587917"/>
            <a:ext cx="4203017" cy="62459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F9FD8D-6544-CD06-740E-5D30D564F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30" y="725565"/>
            <a:ext cx="5938361" cy="590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7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AC880A-8CBD-CF1E-0205-2D4AABF267CE}"/>
              </a:ext>
            </a:extLst>
          </p:cNvPr>
          <p:cNvSpPr txBox="1"/>
          <p:nvPr/>
        </p:nvSpPr>
        <p:spPr>
          <a:xfrm>
            <a:off x="103909" y="22563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Local REST API mode</a:t>
            </a:r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6079A-A2DF-FE7B-CD4A-6D34E73F7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72" y="689965"/>
            <a:ext cx="4293452" cy="13674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AE0AB1-E30E-BAB2-40DA-E312D17FA500}"/>
              </a:ext>
            </a:extLst>
          </p:cNvPr>
          <p:cNvSpPr txBox="1"/>
          <p:nvPr/>
        </p:nvSpPr>
        <p:spPr>
          <a:xfrm>
            <a:off x="5479256" y="689965"/>
            <a:ext cx="6100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REST server uses the </a:t>
            </a:r>
            <a:r>
              <a:rPr lang="en-US" b="1" dirty="0"/>
              <a:t>same models as local mode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Layout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OCR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Table parser</a:t>
            </a:r>
            <a:endParaRPr lang="en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7A733-1343-A859-1ACC-20331E20D4AA}"/>
              </a:ext>
            </a:extLst>
          </p:cNvPr>
          <p:cNvSpPr txBox="1"/>
          <p:nvPr/>
        </p:nvSpPr>
        <p:spPr>
          <a:xfrm>
            <a:off x="666750" y="237610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Dependency when installing </a:t>
            </a:r>
            <a:r>
              <a:rPr lang="en-VN" b="1" dirty="0"/>
              <a:t>docstrange[web]</a:t>
            </a:r>
            <a:endParaRPr lang="en-VN" dirty="0"/>
          </a:p>
          <a:p>
            <a:r>
              <a:rPr lang="en-VN" dirty="0"/>
              <a:t>+ DocStrange</a:t>
            </a:r>
          </a:p>
          <a:p>
            <a:r>
              <a:rPr lang="en-VN" dirty="0"/>
              <a:t>+ FastAPI server</a:t>
            </a:r>
          </a:p>
          <a:p>
            <a:r>
              <a:rPr lang="en-VN" dirty="0"/>
              <a:t>+ Uvicorn runtime</a:t>
            </a:r>
          </a:p>
          <a:p>
            <a:r>
              <a:rPr lang="en-VN" dirty="0"/>
              <a:t>+ Upload handling</a:t>
            </a:r>
          </a:p>
          <a:p>
            <a:r>
              <a:rPr lang="en-VN" dirty="0"/>
              <a:t>+ API schema/validation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C4048-3119-6FE9-A23A-61B8F5C76769}"/>
              </a:ext>
            </a:extLst>
          </p:cNvPr>
          <p:cNvSpPr txBox="1"/>
          <p:nvPr/>
        </p:nvSpPr>
        <p:spPr>
          <a:xfrm>
            <a:off x="666750" y="44315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web version currently supports </a:t>
            </a:r>
            <a:r>
              <a:rPr lang="en-US" b="1" dirty="0"/>
              <a:t>cloud processing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41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9633-8403-1CC1-ED22-DE6C9489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Executation</a:t>
            </a:r>
            <a:r>
              <a:rPr lang="en-US" dirty="0"/>
              <a:t> time statistics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659487-4BCC-FD3C-4D17-564CB0C41E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003334"/>
              </p:ext>
            </p:extLst>
          </p:nvPr>
        </p:nvGraphicFramePr>
        <p:xfrm>
          <a:off x="838200" y="2689860"/>
          <a:ext cx="10515599" cy="264414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1062682691"/>
                    </a:ext>
                  </a:extLst>
                </a:gridCol>
                <a:gridCol w="1672936">
                  <a:extLst>
                    <a:ext uri="{9D8B030D-6E8A-4147-A177-3AD203B41FA5}">
                      <a16:colId xmlns:a16="http://schemas.microsoft.com/office/drawing/2014/main" val="520516364"/>
                    </a:ext>
                  </a:extLst>
                </a:gridCol>
                <a:gridCol w="1601239">
                  <a:extLst>
                    <a:ext uri="{9D8B030D-6E8A-4147-A177-3AD203B41FA5}">
                      <a16:colId xmlns:a16="http://schemas.microsoft.com/office/drawing/2014/main" val="2764188531"/>
                    </a:ext>
                  </a:extLst>
                </a:gridCol>
                <a:gridCol w="2354060">
                  <a:extLst>
                    <a:ext uri="{9D8B030D-6E8A-4147-A177-3AD203B41FA5}">
                      <a16:colId xmlns:a16="http://schemas.microsoft.com/office/drawing/2014/main" val="3205198855"/>
                    </a:ext>
                  </a:extLst>
                </a:gridCol>
                <a:gridCol w="2915689">
                  <a:extLst>
                    <a:ext uri="{9D8B030D-6E8A-4147-A177-3AD203B41FA5}">
                      <a16:colId xmlns:a16="http://schemas.microsoft.com/office/drawing/2014/main" val="2335790300"/>
                    </a:ext>
                  </a:extLst>
                </a:gridCol>
              </a:tblGrid>
              <a:tr h="5222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File Pages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Input Format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Output Format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CPU (TMA Computer) Exe.Time (secs)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GPU T4 (Google Colab) Exe.Time (secs)</a:t>
                      </a:r>
                      <a:endParaRPr lang="fr-FR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80189"/>
                  </a:ext>
                </a:extLst>
              </a:tr>
              <a:tr h="265237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u="none" strike="noStrike" dirty="0">
                          <a:effectLst/>
                        </a:rPr>
                        <a:t>1 pages (4 </a:t>
                      </a:r>
                      <a:r>
                        <a:rPr lang="fr-FR" sz="1400" u="none" strike="noStrike" dirty="0" err="1">
                          <a:effectLst/>
                        </a:rPr>
                        <a:t>paragraphs</a:t>
                      </a:r>
                      <a:r>
                        <a:rPr lang="fr-FR" sz="1400" u="none" strike="noStrike" dirty="0">
                          <a:effectLst/>
                        </a:rPr>
                        <a:t> 1 table)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PDF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Markdown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22.803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339269"/>
                  </a:ext>
                </a:extLst>
              </a:tr>
              <a:tr h="265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Text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23.137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740698"/>
                  </a:ext>
                </a:extLst>
              </a:tr>
              <a:tr h="265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CSV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171.146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002061"/>
                  </a:ext>
                </a:extLst>
              </a:tr>
              <a:tr h="265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JSON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234.781</a:t>
                      </a:r>
                      <a:endParaRPr lang="en-US" sz="1400" b="0" i="0" u="none" strike="noStrike">
                        <a:solidFill>
                          <a:srgbClr val="C9211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428410"/>
                  </a:ext>
                </a:extLst>
              </a:tr>
              <a:tr h="265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DOCX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Markdown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8.251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0.044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25179"/>
                  </a:ext>
                </a:extLst>
              </a:tr>
              <a:tr h="265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Text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8.856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0.022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862730"/>
                  </a:ext>
                </a:extLst>
              </a:tr>
              <a:tr h="265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CSV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151.917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7.879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29452"/>
                  </a:ext>
                </a:extLst>
              </a:tr>
              <a:tr h="265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JSON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114.918</a:t>
                      </a:r>
                      <a:endParaRPr lang="en-US" sz="1400" b="0" i="0" u="none" strike="noStrike">
                        <a:solidFill>
                          <a:srgbClr val="C9211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6.303</a:t>
                      </a:r>
                      <a:endParaRPr lang="en-US" sz="1400" b="0" i="0" u="none" strike="noStrike" dirty="0">
                        <a:solidFill>
                          <a:srgbClr val="C9211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5" marR="5975" marT="597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404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13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68431" cy="1362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296734"/>
            <a:ext cx="5669279" cy="35612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2074431"/>
            <a:ext cx="6412992" cy="478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0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550</Words>
  <Application>Microsoft Office PowerPoint</Application>
  <PresentationFormat>Widescreen</PresentationFormat>
  <Paragraphs>123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DocumentExtractor - Constructor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Executation time statistics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Sơn Huỳnh - Minh H 🦁</dc:creator>
  <cp:lastModifiedBy>Hiếu Nguyễn</cp:lastModifiedBy>
  <cp:revision>82</cp:revision>
  <dcterms:created xsi:type="dcterms:W3CDTF">2026-03-14T04:54:23Z</dcterms:created>
  <dcterms:modified xsi:type="dcterms:W3CDTF">2026-03-17T03:39:46Z</dcterms:modified>
</cp:coreProperties>
</file>