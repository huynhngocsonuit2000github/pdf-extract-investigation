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31"/>
    <p:restoredTop sz="92440"/>
  </p:normalViewPr>
  <p:slideViewPr>
    <p:cSldViewPr snapToGrid="0">
      <p:cViewPr varScale="1">
        <p:scale>
          <a:sx n="136" d="100"/>
          <a:sy n="136" d="100"/>
        </p:scale>
        <p:origin x="5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5AE7A-CA33-DB47-A094-C920B571FBEB}" type="datetimeFigureOut">
              <a:rPr lang="en-VN" smtClean="0"/>
              <a:t>18/3/26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33648-3A71-9246-A459-6F22AB07DEE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951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Local CPU mode - </a:t>
            </a:r>
            <a:r>
              <a:rPr lang="en-US" dirty="0"/>
              <a:t>Common underlying models (from the </a:t>
            </a:r>
            <a:r>
              <a:rPr lang="en-US" dirty="0" err="1"/>
              <a:t>DocStrange</a:t>
            </a:r>
            <a:r>
              <a:rPr lang="en-US" dirty="0"/>
              <a:t> stack):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Layout detection → </a:t>
            </a:r>
            <a:r>
              <a:rPr lang="en-US" b="1" dirty="0" err="1"/>
              <a:t>DocLayout</a:t>
            </a:r>
            <a:r>
              <a:rPr lang="en-US" b="1" dirty="0"/>
              <a:t> / </a:t>
            </a:r>
            <a:r>
              <a:rPr lang="en-US" b="1" dirty="0" err="1"/>
              <a:t>LayoutLM</a:t>
            </a:r>
            <a:r>
              <a:rPr lang="en-US" b="1" dirty="0"/>
              <a:t>-based models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OCR → </a:t>
            </a:r>
            <a:r>
              <a:rPr lang="en-US" b="1" dirty="0" err="1"/>
              <a:t>PaddleOCR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Table structure → </a:t>
            </a:r>
            <a:r>
              <a:rPr lang="en-US" b="1" dirty="0" err="1"/>
              <a:t>TableTransformer</a:t>
            </a:r>
            <a:r>
              <a:rPr lang="en-US" b="1" dirty="0"/>
              <a:t> / </a:t>
            </a:r>
            <a:r>
              <a:rPr lang="en-US" b="1" dirty="0" err="1"/>
              <a:t>PPStructure</a:t>
            </a:r>
            <a:endParaRPr lang="en-US" dirty="0"/>
          </a:p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33648-3A71-9246-A459-6F22AB07DEE3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05886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33648-3A71-9246-A459-6F22AB07DEE3}" type="slidenum">
              <a:rPr lang="en-VN" smtClean="0"/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98850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uname</a:t>
            </a:r>
            <a:r>
              <a:rPr lang="en-US" dirty="0"/>
              <a:t> –a</a:t>
            </a:r>
          </a:p>
          <a:p>
            <a:endParaRPr lang="en-US" dirty="0"/>
          </a:p>
          <a:p>
            <a:r>
              <a:rPr lang="en-US" dirty="0" err="1"/>
              <a:t>DocStrange</a:t>
            </a:r>
            <a:r>
              <a:rPr lang="en-US" dirty="0"/>
              <a:t> GPU requires </a:t>
            </a:r>
            <a:r>
              <a:rPr lang="en-US" b="1" dirty="0"/>
              <a:t>CUDA</a:t>
            </a:r>
            <a:r>
              <a:rPr lang="en-US" dirty="0"/>
              <a:t>, which only works with </a:t>
            </a:r>
            <a:r>
              <a:rPr lang="en-US" b="1" dirty="0"/>
              <a:t>NVIDIA GPUs on Linux/Windows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Pdfplumber</a:t>
            </a:r>
            <a:r>
              <a:rPr lang="en-US" dirty="0"/>
              <a:t> or </a:t>
            </a:r>
            <a:r>
              <a:rPr lang="en-US" b="1" dirty="0"/>
              <a:t>unstructured</a:t>
            </a:r>
            <a:r>
              <a:rPr lang="en-US" dirty="0"/>
              <a:t> =&gt; best case</a:t>
            </a:r>
          </a:p>
          <a:p>
            <a:endParaRPr lang="en-US" b="1" dirty="0"/>
          </a:p>
          <a:p>
            <a:r>
              <a:rPr lang="en-US" b="1" dirty="0"/>
              <a:t>PDF → </a:t>
            </a:r>
            <a:r>
              <a:rPr lang="en-US" b="1" dirty="0" err="1"/>
              <a:t>pdfplumber</a:t>
            </a:r>
            <a:br>
              <a:rPr lang="en-US" b="1" dirty="0"/>
            </a:br>
            <a:r>
              <a:rPr lang="en-US" b="1" dirty="0"/>
              <a:t>DOCX → python-docx</a:t>
            </a:r>
            <a:br>
              <a:rPr lang="en-US" b="1" dirty="0"/>
            </a:br>
            <a:r>
              <a:rPr lang="en-US" b="1" dirty="0"/>
              <a:t>Images → tesseract</a:t>
            </a:r>
            <a:endParaRPr lang="en-V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33648-3A71-9246-A459-6F22AB07DEE3}" type="slidenum">
              <a:rPr lang="en-VN" smtClean="0"/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45637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4426-EFD6-AAAA-E10C-CC7557313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615B3-25A4-2323-9F6E-CA0B84191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C6800-A0AD-2175-4C4D-BFD2168A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3AAF2-8562-00B3-B6FF-7C3A2E83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FD8D8-A20F-17AA-827C-CB2D6E82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06460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FFBCE-829F-7532-9A36-4990579DD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81F3E-A63F-FC7E-3D78-B2763B8B6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6F03E-5D65-609D-7BCC-8D19F8261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26555-FDD3-55D5-8519-020A2257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D64A9-F846-67B0-7972-3D55CA6DF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90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86A6-5470-0AD7-58CA-240045DA4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68338-1967-1E33-B7AF-F93505CDA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8B02E-884C-AA3C-220F-FF560A12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B7973-D80A-94D3-2C2E-023E1831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5D2D2-A805-D52B-9814-7C143FDC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2324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B0AC-C71A-8F48-56E0-D4C213FF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160B2-C234-D82C-89AF-CF1C7BD1B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1981C-7DC3-1D03-A8F3-9E68D058F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19C50-52F8-A6A4-88BD-63ACD337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C9338-2E7E-CBED-E40E-083E7644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50A03-6496-B674-1333-A011B883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4186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E7C1-F91E-8BD2-03AF-44E1EB1A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6B803-C3C0-85EF-5568-0323AE1B5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78BA9-FEA3-F802-E463-425B7B6A7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E82A82-6993-28C6-865A-7E826CFF3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EF9B09-9366-E30B-9FE1-F6B0C9850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6ED06-CEE2-DAA3-DC49-3DA801DE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F0C60-64EA-DA52-8E43-428D262D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CE89F4-60FB-2921-9CA9-EFFE7F0C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14169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E7BD-9BA9-25CA-3332-3C5856D2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D76A6-2C14-F83B-7356-27DB2B8F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2BB29C-7C7E-6F79-28D1-DDBB319B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5B85B0-516F-5109-93AA-529569D6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0965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6236C-BBCE-78FF-FE74-5F2EE67D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3E478-E9B8-2A44-9D67-5753EB1A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9795C-6376-720A-6F8D-5122B762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6704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0B9C-9DD9-4593-DC32-F5FC5F97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0488D-4548-BE51-6B63-511F62DDB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30B89-72E5-011E-D72E-28DE22B40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54C7B-4F58-CBFE-DDB3-773DE605F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7AF57-5A6A-A5A3-7E58-C474DCB2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6A9A9-4352-560F-87D0-7CB22A27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2869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0CBF-7949-3597-F886-971C51951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42CA9-0CFF-9C72-5C68-66C7D1F05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F2801-DA72-C641-C0F6-07B3EA50B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1F0BB-2CFA-87E7-E720-77249EE3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2CC15-45A6-7CCA-4FF4-0E57DA44C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69680-C7BA-F290-8281-E89A57F39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71811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E86A-3DAE-50B0-8A17-008D7C17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0B638-C386-E426-8BEC-F2A7C787C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6A26D-38F6-9799-6944-91D96409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2BEFA-38D3-7E02-67FD-7428E0DD9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5D240-D6C3-EDDD-9076-F6FB635A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69556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548A4E-DEA9-5801-4EB3-E0E45C1E7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C8961-75F0-1567-4256-157B15392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E0F54-CA95-D2BB-4E9C-F9ED08D14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ED245-8574-430E-19F3-8DB0CF3B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61B3E-CFBE-79F4-784C-CD9B0B47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72993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6B53A-5D08-919C-8D20-49D77AE4D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2844D-1731-BEA3-A3FB-2517C8115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E696A-F353-1AD4-9FFE-A5E020C16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4D681-7D00-494D-8178-8A5F621D8CBA}" type="datetimeFigureOut">
              <a:rPr lang="en-VN" smtClean="0"/>
              <a:t>18/3/26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4ABA5-6377-A135-B6DC-4AC799D68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BD32E-D421-A3AD-7E67-FD561825D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0506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19FEB-0933-F44B-8535-AFC2BC13A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07" y="127454"/>
            <a:ext cx="4006931" cy="501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docstrange</a:t>
            </a:r>
            <a:r>
              <a:rPr lang="en-US" dirty="0"/>
              <a:t>==1.1.8</a:t>
            </a:r>
            <a:endParaRPr lang="en-VN" dirty="0"/>
          </a:p>
          <a:p>
            <a:pPr lvl="1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F3D47-D952-C4E1-92C6-EED688302604}"/>
              </a:ext>
            </a:extLst>
          </p:cNvPr>
          <p:cNvSpPr txBox="1"/>
          <p:nvPr/>
        </p:nvSpPr>
        <p:spPr>
          <a:xfrm>
            <a:off x="5272644" y="548039"/>
            <a:ext cx="65314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Processing happens in </a:t>
            </a:r>
            <a:r>
              <a:rPr lang="en-US" b="1" dirty="0" err="1"/>
              <a:t>DocStrange</a:t>
            </a:r>
            <a:r>
              <a:rPr lang="en-US" b="1" dirty="0"/>
              <a:t> cloud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Requires internet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Usually </a:t>
            </a:r>
            <a:r>
              <a:rPr lang="en-US" b="1" dirty="0"/>
              <a:t>fast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GPU/CPU requirement locally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9B3D9B7-7FE4-28DF-42F8-9EC6EF449D62}"/>
              </a:ext>
            </a:extLst>
          </p:cNvPr>
          <p:cNvSpPr txBox="1">
            <a:spLocks/>
          </p:cNvSpPr>
          <p:nvPr/>
        </p:nvSpPr>
        <p:spPr>
          <a:xfrm>
            <a:off x="161307" y="2043522"/>
            <a:ext cx="4768129" cy="6531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docstrange</a:t>
            </a:r>
            <a:r>
              <a:rPr lang="en-US" dirty="0"/>
              <a:t>==1.1.3 &amp; </a:t>
            </a:r>
            <a:r>
              <a:rPr lang="en-US" dirty="0" err="1"/>
              <a:t>cpu</a:t>
            </a:r>
            <a:r>
              <a:rPr lang="en-US" dirty="0"/>
              <a:t> mode</a:t>
            </a:r>
            <a:endParaRPr lang="en-VN" dirty="0"/>
          </a:p>
          <a:p>
            <a:pPr lvl="1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A2766E-5EC6-BE16-4965-774D65B64637}"/>
              </a:ext>
            </a:extLst>
          </p:cNvPr>
          <p:cNvSpPr txBox="1"/>
          <p:nvPr/>
        </p:nvSpPr>
        <p:spPr>
          <a:xfrm>
            <a:off x="5355771" y="2521578"/>
            <a:ext cx="51301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Fully </a:t>
            </a:r>
            <a:r>
              <a:rPr lang="en-US" b="1" dirty="0"/>
              <a:t>offline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Runs </a:t>
            </a:r>
            <a:r>
              <a:rPr lang="en-US" b="1" dirty="0"/>
              <a:t>ML models locally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Works on Mac / Linux / Windows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Slower</a:t>
            </a:r>
            <a:r>
              <a:rPr lang="en-US" dirty="0"/>
              <a:t> for large documents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6CBB70C-AF05-8474-818C-CDB494F80887}"/>
              </a:ext>
            </a:extLst>
          </p:cNvPr>
          <p:cNvSpPr txBox="1">
            <a:spLocks/>
          </p:cNvSpPr>
          <p:nvPr/>
        </p:nvSpPr>
        <p:spPr>
          <a:xfrm>
            <a:off x="161307" y="4217275"/>
            <a:ext cx="5467597" cy="812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docstrange</a:t>
            </a:r>
            <a:r>
              <a:rPr lang="en-US" dirty="0"/>
              <a:t>==1.1.3 &amp; </a:t>
            </a:r>
            <a:r>
              <a:rPr lang="en-US" dirty="0" err="1"/>
              <a:t>gpu</a:t>
            </a:r>
            <a:r>
              <a:rPr lang="en-US" dirty="0"/>
              <a:t> mode</a:t>
            </a:r>
            <a:endParaRPr lang="en-VN" dirty="0"/>
          </a:p>
          <a:p>
            <a:pPr lvl="1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9DEC8B-1C5F-D741-430B-636784334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22" y="548039"/>
            <a:ext cx="4333835" cy="10001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F8634C-B3D5-A8DA-C723-36D0088CB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22" y="2521577"/>
            <a:ext cx="4333835" cy="9258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98239DD-4C11-0FDA-4A7E-05AE7B437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21" y="4780812"/>
            <a:ext cx="4333835" cy="90342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0408817-9A7A-0C15-B3CB-ABE54B8262FC}"/>
              </a:ext>
            </a:extLst>
          </p:cNvPr>
          <p:cNvSpPr txBox="1"/>
          <p:nvPr/>
        </p:nvSpPr>
        <p:spPr>
          <a:xfrm>
            <a:off x="5272644" y="4253492"/>
            <a:ext cx="60979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NVIDIA GPU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r>
              <a:rPr lang="en-US" dirty="0"/>
              <a:t> CUDA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08206E-E843-C2DF-7BD9-450D95AD3DF9}"/>
              </a:ext>
            </a:extLst>
          </p:cNvPr>
          <p:cNvSpPr txBox="1"/>
          <p:nvPr/>
        </p:nvSpPr>
        <p:spPr>
          <a:xfrm>
            <a:off x="5355771" y="5684240"/>
            <a:ext cx="33181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5–20× faster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for large PDFs</a:t>
            </a:r>
          </a:p>
        </p:txBody>
      </p:sp>
    </p:spTree>
    <p:extLst>
      <p:ext uri="{BB962C8B-B14F-4D97-AF65-F5344CB8AC3E}">
        <p14:creationId xmlns:p14="http://schemas.microsoft.com/office/powerpoint/2010/main" val="25755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AA442-3988-82A1-BC42-8A7F0C33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9BFA0C-D882-48B6-A330-F0FEB85A4541}"/>
              </a:ext>
            </a:extLst>
          </p:cNvPr>
          <p:cNvSpPr txBox="1"/>
          <p:nvPr/>
        </p:nvSpPr>
        <p:spPr>
          <a:xfrm>
            <a:off x="5307573" y="594701"/>
            <a:ext cx="6604339" cy="87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DocumentExtractor</a:t>
            </a:r>
            <a:r>
              <a:rPr lang="en-US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 from the </a:t>
            </a:r>
            <a:r>
              <a:rPr lang="en-US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docstrange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library, use to read document, extract content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3D8D06-DA7F-372C-BF61-412A49580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8599"/>
            <a:ext cx="4116861" cy="36094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E23264-1935-2F68-8519-FEF859B38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4" y="4207393"/>
            <a:ext cx="7772396" cy="26506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448745-5ED8-8B3F-D89B-EED6B07B9F80}"/>
              </a:ext>
            </a:extLst>
          </p:cNvPr>
          <p:cNvSpPr txBox="1"/>
          <p:nvPr/>
        </p:nvSpPr>
        <p:spPr>
          <a:xfrm>
            <a:off x="5307573" y="1598662"/>
            <a:ext cx="66043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extractor.extract</a:t>
            </a:r>
            <a:r>
              <a:rPr lang="en-US" b="1" dirty="0"/>
              <a:t>("</a:t>
            </a:r>
            <a:r>
              <a:rPr lang="en-US" b="1" dirty="0" err="1"/>
              <a:t>sample.pdf</a:t>
            </a:r>
            <a:r>
              <a:rPr lang="en-US" b="1" dirty="0"/>
              <a:t>"): </a:t>
            </a:r>
            <a:r>
              <a:rPr lang="en-US" dirty="0"/>
              <a:t>call method and return </a:t>
            </a:r>
            <a:r>
              <a:rPr lang="en-US" b="1" dirty="0" err="1"/>
              <a:t>ConversionResult</a:t>
            </a:r>
            <a:r>
              <a:rPr lang="en-US" b="1" dirty="0"/>
              <a:t> </a:t>
            </a:r>
            <a:r>
              <a:rPr lang="en-US" dirty="0"/>
              <a:t>object containing parsed data (text, tables, metadata, etc.).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3FD3A6-6B94-004A-DC03-C7EBD1592532}"/>
              </a:ext>
            </a:extLst>
          </p:cNvPr>
          <p:cNvSpPr/>
          <p:nvPr/>
        </p:nvSpPr>
        <p:spPr>
          <a:xfrm>
            <a:off x="80206" y="-13640"/>
            <a:ext cx="268425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3200" b="1" dirty="0" err="1">
                <a:ln/>
                <a:solidFill>
                  <a:schemeClr val="accent4"/>
                </a:solidFill>
              </a:rPr>
              <a:t>e</a:t>
            </a:r>
            <a:r>
              <a:rPr lang="en-US" sz="3200" b="1" cap="none" spc="0" dirty="0" err="1">
                <a:ln/>
                <a:solidFill>
                  <a:schemeClr val="accent4"/>
                </a:solidFill>
                <a:effectLst/>
              </a:rPr>
              <a:t>xtract_text</a:t>
            </a:r>
            <a:r>
              <a:rPr lang="en-US" sz="3200" b="1" cap="none" spc="0" dirty="0">
                <a:ln/>
                <a:solidFill>
                  <a:schemeClr val="accent4"/>
                </a:solidFill>
                <a:effectLst/>
              </a:rPr>
              <a:t>()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23EA84-CF60-386F-CBFE-4BE50B84B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6" y="571135"/>
            <a:ext cx="5129747" cy="2580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06E2EA-617B-91F9-18D2-18913B26E3D6}"/>
              </a:ext>
            </a:extLst>
          </p:cNvPr>
          <p:cNvSpPr txBox="1"/>
          <p:nvPr/>
        </p:nvSpPr>
        <p:spPr>
          <a:xfrm>
            <a:off x="5307572" y="2785971"/>
            <a:ext cx="6604339" cy="29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350"/>
              </a:lnSpc>
              <a:buNone/>
            </a:pPr>
            <a:r>
              <a:rPr lang="en-US" b="1" dirty="0" err="1"/>
              <a:t>result.extract_text</a:t>
            </a:r>
            <a:r>
              <a:rPr lang="en-US" b="1" dirty="0"/>
              <a:t>(): </a:t>
            </a:r>
            <a:r>
              <a:rPr lang="en-US" dirty="0"/>
              <a:t>all textual content found in the document.</a:t>
            </a:r>
          </a:p>
        </p:txBody>
      </p:sp>
    </p:spTree>
    <p:extLst>
      <p:ext uri="{BB962C8B-B14F-4D97-AF65-F5344CB8AC3E}">
        <p14:creationId xmlns:p14="http://schemas.microsoft.com/office/powerpoint/2010/main" val="1267692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8B3BD-10C6-B09B-9575-F08472739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E3685B-3E37-BE2C-1AFB-25AD59D79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8599"/>
            <a:ext cx="4116861" cy="36094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9F9B94E-79FE-39CC-B65F-FA34BC11D737}"/>
              </a:ext>
            </a:extLst>
          </p:cNvPr>
          <p:cNvSpPr/>
          <p:nvPr/>
        </p:nvSpPr>
        <p:spPr>
          <a:xfrm>
            <a:off x="80206" y="-13640"/>
            <a:ext cx="459781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3200" b="1" dirty="0" err="1">
                <a:ln/>
                <a:solidFill>
                  <a:schemeClr val="accent4"/>
                </a:solidFill>
              </a:rPr>
              <a:t>extract_markdown</a:t>
            </a:r>
            <a:r>
              <a:rPr lang="en-US" sz="3200" b="1" dirty="0">
                <a:ln/>
                <a:solidFill>
                  <a:schemeClr val="accent4"/>
                </a:solidFill>
              </a:rPr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92F86-9411-50D2-C000-329333142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30" y="594701"/>
            <a:ext cx="5132019" cy="25982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0AADFE-9D64-F723-9AD7-21035180A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4180115"/>
            <a:ext cx="7772400" cy="2677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C748C0-AA88-02AE-3770-836F71B515C5}"/>
              </a:ext>
            </a:extLst>
          </p:cNvPr>
          <p:cNvSpPr txBox="1"/>
          <p:nvPr/>
        </p:nvSpPr>
        <p:spPr>
          <a:xfrm>
            <a:off x="5307573" y="594701"/>
            <a:ext cx="6604339" cy="87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DocumentExtractor</a:t>
            </a:r>
            <a:r>
              <a:rPr lang="en-US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 from the </a:t>
            </a:r>
            <a:r>
              <a:rPr lang="en-US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docstrange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library, use to read document, extract 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59950-19EB-D362-C631-7B61F52ED02D}"/>
              </a:ext>
            </a:extLst>
          </p:cNvPr>
          <p:cNvSpPr txBox="1"/>
          <p:nvPr/>
        </p:nvSpPr>
        <p:spPr>
          <a:xfrm>
            <a:off x="5307573" y="1598662"/>
            <a:ext cx="66043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extractor.extract</a:t>
            </a:r>
            <a:r>
              <a:rPr lang="en-US" b="1" dirty="0"/>
              <a:t>("</a:t>
            </a:r>
            <a:r>
              <a:rPr lang="en-US" b="1" dirty="0" err="1"/>
              <a:t>sample.pdf</a:t>
            </a:r>
            <a:r>
              <a:rPr lang="en-US" b="1" dirty="0"/>
              <a:t>"): </a:t>
            </a:r>
            <a:r>
              <a:rPr lang="en-US" dirty="0"/>
              <a:t>call method and return </a:t>
            </a:r>
            <a:r>
              <a:rPr lang="en-US" b="1" dirty="0"/>
              <a:t>extraction result object </a:t>
            </a:r>
            <a:r>
              <a:rPr lang="en-US" dirty="0"/>
              <a:t>containing parsed data (text, tables, metadata, etc.).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488CE-4D4F-38B7-37BA-73C0424E6171}"/>
              </a:ext>
            </a:extLst>
          </p:cNvPr>
          <p:cNvSpPr txBox="1"/>
          <p:nvPr/>
        </p:nvSpPr>
        <p:spPr>
          <a:xfrm>
            <a:off x="5307572" y="2785971"/>
            <a:ext cx="6604339" cy="47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350"/>
              </a:lnSpc>
              <a:buNone/>
            </a:pPr>
            <a:r>
              <a:rPr lang="en-US" b="1" dirty="0" err="1"/>
              <a:t>extract_markdown</a:t>
            </a:r>
            <a:r>
              <a:rPr lang="en-US" b="1" dirty="0"/>
              <a:t>(): </a:t>
            </a:r>
            <a:r>
              <a:rPr lang="en-US" dirty="0"/>
              <a:t>returns the document as Markdown, preserving structure like headings, lists, and tables.</a:t>
            </a:r>
          </a:p>
        </p:txBody>
      </p:sp>
    </p:spTree>
    <p:extLst>
      <p:ext uri="{BB962C8B-B14F-4D97-AF65-F5344CB8AC3E}">
        <p14:creationId xmlns:p14="http://schemas.microsoft.com/office/powerpoint/2010/main" val="2127338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1D94-2D99-E417-0753-3B889D82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9A4B9E-D891-A99C-E950-016F04586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2521"/>
            <a:ext cx="4116861" cy="35454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EDB62A-8486-58C9-4060-2B689C4029FB}"/>
              </a:ext>
            </a:extLst>
          </p:cNvPr>
          <p:cNvSpPr/>
          <p:nvPr/>
        </p:nvSpPr>
        <p:spPr>
          <a:xfrm>
            <a:off x="80206" y="-13640"/>
            <a:ext cx="382194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3200" b="1" dirty="0" err="1">
                <a:ln/>
                <a:solidFill>
                  <a:schemeClr val="accent4"/>
                </a:solidFill>
              </a:rPr>
              <a:t>extract_data</a:t>
            </a:r>
            <a:r>
              <a:rPr lang="en-US" sz="3200" b="1" dirty="0">
                <a:ln/>
                <a:solidFill>
                  <a:schemeClr val="accent4"/>
                </a:solidFill>
              </a:rPr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E75A2C-1833-3501-6CFA-63D2170032A2}"/>
              </a:ext>
            </a:extLst>
          </p:cNvPr>
          <p:cNvSpPr txBox="1"/>
          <p:nvPr/>
        </p:nvSpPr>
        <p:spPr>
          <a:xfrm>
            <a:off x="5326254" y="631907"/>
            <a:ext cx="6604339" cy="29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350"/>
              </a:lnSpc>
              <a:buNone/>
            </a:pPr>
            <a:r>
              <a:rPr lang="en-US" b="1" dirty="0" err="1"/>
              <a:t>extract_data</a:t>
            </a:r>
            <a:r>
              <a:rPr lang="en-US" b="1" dirty="0"/>
              <a:t>(): </a:t>
            </a:r>
            <a:r>
              <a:rPr lang="en-US" dirty="0"/>
              <a:t>returns the </a:t>
            </a:r>
            <a:r>
              <a:rPr lang="en-US" dirty="0" err="1"/>
              <a:t>json</a:t>
            </a:r>
            <a:r>
              <a:rPr lang="en-US" dirty="0"/>
              <a:t>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BA37A0-A55A-1691-5400-94E0C7AB6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953" y="3085698"/>
            <a:ext cx="5246047" cy="3772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B42C08-0A1F-A9CB-B00C-1E09A4FE3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6" y="594701"/>
            <a:ext cx="5165842" cy="2694254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F35DA2-6FEE-A03E-AD27-733DE3A53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29900"/>
              </p:ext>
            </p:extLst>
          </p:nvPr>
        </p:nvGraphicFramePr>
        <p:xfrm>
          <a:off x="5425808" y="1536900"/>
          <a:ext cx="6604338" cy="114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451">
                  <a:extLst>
                    <a:ext uri="{9D8B030D-6E8A-4147-A177-3AD203B41FA5}">
                      <a16:colId xmlns:a16="http://schemas.microsoft.com/office/drawing/2014/main" val="2698673455"/>
                    </a:ext>
                  </a:extLst>
                </a:gridCol>
                <a:gridCol w="1435396">
                  <a:extLst>
                    <a:ext uri="{9D8B030D-6E8A-4147-A177-3AD203B41FA5}">
                      <a16:colId xmlns:a16="http://schemas.microsoft.com/office/drawing/2014/main" val="4175684505"/>
                    </a:ext>
                  </a:extLst>
                </a:gridCol>
                <a:gridCol w="3194491">
                  <a:extLst>
                    <a:ext uri="{9D8B030D-6E8A-4147-A177-3AD203B41FA5}">
                      <a16:colId xmlns:a16="http://schemas.microsoft.com/office/drawing/2014/main" val="459115999"/>
                    </a:ext>
                  </a:extLst>
                </a:gridCol>
              </a:tblGrid>
              <a:tr h="377341">
                <a:tc>
                  <a:txBody>
                    <a:bodyPr/>
                    <a:lstStyle/>
                    <a:p>
                      <a:r>
                        <a:rPr lang="en-VN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425928"/>
                  </a:ext>
                </a:extLst>
              </a:tr>
              <a:tr h="382582">
                <a:tc>
                  <a:txBody>
                    <a:bodyPr/>
                    <a:lstStyle/>
                    <a:p>
                      <a:r>
                        <a:rPr lang="en-US" dirty="0" err="1"/>
                        <a:t>specified_fields</a:t>
                      </a:r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List[str]</a:t>
                      </a:r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Extract only specific fields</a:t>
                      </a:r>
                      <a:endParaRPr lang="en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398742"/>
                  </a:ext>
                </a:extLst>
              </a:tr>
              <a:tr h="382582">
                <a:tc>
                  <a:txBody>
                    <a:bodyPr/>
                    <a:lstStyle/>
                    <a:p>
                      <a:r>
                        <a:rPr lang="en-US" dirty="0" err="1"/>
                        <a:t>json_schema</a:t>
                      </a:r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Dict</a:t>
                      </a:r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Enforce structured schema</a:t>
                      </a:r>
                      <a:endParaRPr lang="en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368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08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3C17-5720-56C3-452D-ADCCA3750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FAF074-994C-1D69-CBDA-D8DD0E1D7C0F}"/>
              </a:ext>
            </a:extLst>
          </p:cNvPr>
          <p:cNvSpPr/>
          <p:nvPr/>
        </p:nvSpPr>
        <p:spPr>
          <a:xfrm>
            <a:off x="80206" y="-13640"/>
            <a:ext cx="804181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3200" b="1" dirty="0" err="1">
                <a:ln/>
                <a:solidFill>
                  <a:schemeClr val="accent4"/>
                </a:solidFill>
              </a:rPr>
              <a:t>extract_data</a:t>
            </a:r>
            <a:r>
              <a:rPr lang="en-US" sz="3200" b="1" dirty="0">
                <a:ln/>
                <a:solidFill>
                  <a:schemeClr val="accent4"/>
                </a:solidFill>
              </a:rPr>
              <a:t>() -&gt; </a:t>
            </a:r>
            <a:r>
              <a:rPr lang="en-US" sz="3200" b="1" dirty="0" err="1">
                <a:ln/>
                <a:solidFill>
                  <a:schemeClr val="accent4"/>
                </a:solidFill>
              </a:rPr>
              <a:t>specified_fields</a:t>
            </a:r>
            <a:endParaRPr lang="en-VN" sz="3200" b="1" dirty="0">
              <a:ln/>
              <a:solidFill>
                <a:schemeClr val="accent4"/>
              </a:solidFill>
            </a:endParaRPr>
          </a:p>
          <a:p>
            <a:endParaRPr lang="en-US" sz="3200" b="1" dirty="0">
              <a:ln/>
              <a:solidFill>
                <a:schemeClr val="accent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9CADE1-8B1B-467A-F449-38673A4C1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877" y="587917"/>
            <a:ext cx="4203017" cy="62459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F9FD8D-6544-CD06-740E-5D30D564F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06" y="713373"/>
            <a:ext cx="5938361" cy="590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57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AC880A-8CBD-CF1E-0205-2D4AABF267CE}"/>
              </a:ext>
            </a:extLst>
          </p:cNvPr>
          <p:cNvSpPr txBox="1"/>
          <p:nvPr/>
        </p:nvSpPr>
        <p:spPr>
          <a:xfrm>
            <a:off x="103909" y="225632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Local REST API mode</a:t>
            </a:r>
            <a:endParaRPr lang="en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A6079A-A2DF-FE7B-CD4A-6D34E73F7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72" y="689965"/>
            <a:ext cx="4284127" cy="136446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6CA1D2-419E-984F-3656-55BE905E3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491764"/>
              </p:ext>
            </p:extLst>
          </p:nvPr>
        </p:nvGraphicFramePr>
        <p:xfrm>
          <a:off x="666750" y="472016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564595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568036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76909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38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DocStrange</a:t>
                      </a:r>
                      <a:r>
                        <a:rPr lang="en-US" dirty="0"/>
                        <a:t> cloud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561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Local 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layout + OCR + table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015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Local GPU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same models with CUDA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196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REST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same local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depends CPU/GPU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7895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AE0AB1-E30E-BAB2-40DA-E312D17FA500}"/>
              </a:ext>
            </a:extLst>
          </p:cNvPr>
          <p:cNvSpPr txBox="1"/>
          <p:nvPr/>
        </p:nvSpPr>
        <p:spPr>
          <a:xfrm>
            <a:off x="5479256" y="689965"/>
            <a:ext cx="61007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REST server uses the </a:t>
            </a:r>
            <a:r>
              <a:rPr lang="en-US" b="1" dirty="0"/>
              <a:t>same models as local mode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Layout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OCR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Table parser</a:t>
            </a:r>
            <a:endParaRPr lang="en-V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7A733-1343-A859-1ACC-20331E20D4AA}"/>
              </a:ext>
            </a:extLst>
          </p:cNvPr>
          <p:cNvSpPr txBox="1"/>
          <p:nvPr/>
        </p:nvSpPr>
        <p:spPr>
          <a:xfrm>
            <a:off x="666750" y="237610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Dependency when installing </a:t>
            </a:r>
            <a:r>
              <a:rPr lang="en-VN" b="1" dirty="0"/>
              <a:t>docstrange[web]</a:t>
            </a:r>
            <a:endParaRPr lang="en-VN" dirty="0"/>
          </a:p>
          <a:p>
            <a:r>
              <a:rPr lang="en-VN" dirty="0"/>
              <a:t>+ DocStrange</a:t>
            </a:r>
          </a:p>
          <a:p>
            <a:r>
              <a:rPr lang="en-VN" dirty="0"/>
              <a:t>+ FastAPI server</a:t>
            </a:r>
          </a:p>
          <a:p>
            <a:r>
              <a:rPr lang="en-VN" dirty="0"/>
              <a:t>+ Uvicorn runtime</a:t>
            </a:r>
          </a:p>
          <a:p>
            <a:r>
              <a:rPr lang="en-VN" dirty="0"/>
              <a:t>+ Upload handling</a:t>
            </a:r>
          </a:p>
          <a:p>
            <a:r>
              <a:rPr lang="en-VN" dirty="0"/>
              <a:t>+ API schema/validation</a:t>
            </a:r>
          </a:p>
        </p:txBody>
      </p:sp>
    </p:spTree>
    <p:extLst>
      <p:ext uri="{BB962C8B-B14F-4D97-AF65-F5344CB8AC3E}">
        <p14:creationId xmlns:p14="http://schemas.microsoft.com/office/powerpoint/2010/main" val="2172411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</TotalTime>
  <Words>373</Words>
  <Application>Microsoft Macintosh PowerPoint</Application>
  <PresentationFormat>Widescreen</PresentationFormat>
  <Paragraphs>79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Sơn Huỳnh - Minh H 🦁</dc:creator>
  <cp:lastModifiedBy>Sơn Huỳnh - Minh H 🦁</cp:lastModifiedBy>
  <cp:revision>57</cp:revision>
  <dcterms:created xsi:type="dcterms:W3CDTF">2026-03-14T04:54:23Z</dcterms:created>
  <dcterms:modified xsi:type="dcterms:W3CDTF">2026-03-17T18:06:59Z</dcterms:modified>
</cp:coreProperties>
</file>